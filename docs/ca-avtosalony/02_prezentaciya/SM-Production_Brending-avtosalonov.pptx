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Обложка. Ключевой посыл: оперативность + своё производство. Фото — наш брус-баннер в действующем салоне OMODA.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Кто мы. Акцент: собственное производство = сроки и цена без наценки посредников.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Боли клиента. Каждой боли — наш ответ (стрелка). Справа — реальные объекты.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Карта направлений: интерьер, фасад, мероприятия, акции — можно начать с одного.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Решение A: ресепшн под ключ. Цены «от» — уточняются замером.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Решение B: фасад и наружка. Работаем по брендбуку производителя.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Решение C: мероприятия в салоне. ДОД, старт продаж, конференция дилеров.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Решение D: акции и срочная печать. Сменное полотно = экономия до 40%.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Портфолио: реальные объекты у дилеров — главный аргумент доверия.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Mitsubishi Motors — единственный автомобильный клиент в портфолио.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Сроки: РЖД Арена — 3 дня от идеи до монтажа. Это снимает возражение «не успеете».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Шесть причин. Фото внизу — доказательство: торец конструкции, дилеры, смена полотна.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Процесс: 6 шагов. КП — в течение дня, замер по Москве бесплатный.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готовых пакета — менеджеру проще продавать, клиенту проще выбирать.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Финал: прямой призыв. Контакты крупно — их видно в превью письма.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4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4.png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ptx_47793243553801623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0A0D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mprod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57200"/>
            <a:ext cx="1419600" cy="1066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3400" y="2581275"/>
            <a:ext cx="323850" cy="30480"/>
          </a:xfrm>
          <a:prstGeom prst="rect">
            <a:avLst/>
          </a:prstGeom>
          <a:solidFill>
            <a:srgbClr val="FF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340042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Manrope"/>
              </a:rPr>
              <a:t>ПРЕЗЕНТАЦИЯ ДЛЯ ДИЛЕРСКИХ ЦЕНТРОВ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734056"/>
            <a:ext cx="5105400" cy="975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4800">
                <a:solidFill>
                  <a:srgbClr val="F4F2EC"/>
                </a:solidFill>
                <a:latin typeface="Unbounded ExtraBold"/>
              </a:rPr>
              <a:t>Брендинг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380232"/>
            <a:ext cx="2886075" cy="975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4800">
                <a:solidFill>
                  <a:srgbClr val="F4F2EC"/>
                </a:solidFill>
                <a:latin typeface="Unbounded ExtraBold"/>
              </a:rPr>
              <a:t>для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0275" y="3380232"/>
            <a:ext cx="6543675" cy="975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4800">
                <a:solidFill>
                  <a:srgbClr val="FF4D1C"/>
                </a:solidFill>
                <a:latin typeface="Unbounded ExtraBold"/>
              </a:rPr>
              <a:t>автосалонов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210050"/>
            <a:ext cx="6362700" cy="1057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0" sz="1575">
                <a:solidFill>
                  <a:srgbClr val="D9D6CD"/>
                </a:solidFill>
                <a:latin typeface="Manrope"/>
              </a:rPr>
              <a:t>Оперативно решаем вопросы по брендингу — от вывески на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0" sz="1575">
                <a:solidFill>
                  <a:srgbClr val="D9D6CD"/>
                </a:solidFill>
                <a:latin typeface="Manrope"/>
              </a:rPr>
              <a:t>фасаде до мероприятия в шоуруме. Собственное производство,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0" sz="1575">
                <a:solidFill>
                  <a:srgbClr val="D9D6CD"/>
                </a:solidFill>
                <a:latin typeface="Manrope"/>
              </a:rPr>
              <a:t>сроки от 3 дней.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5086350"/>
            <a:ext cx="2200275" cy="342900"/>
          </a:xfrm>
          <a:prstGeom prst="roundRect">
            <a:avLst>
              <a:gd name="adj" fmla="val 50000"/>
            </a:avLst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5086350"/>
            <a:ext cx="220027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1050">
                <a:solidFill>
                  <a:srgbClr val="0A0A0D"/>
                </a:solidFill>
                <a:latin typeface="Manrope"/>
              </a:rPr>
              <a:t>Срочные заказы от 3 дней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47975" y="5086350"/>
            <a:ext cx="1552575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7975" y="5086350"/>
            <a:ext cx="155257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1050">
                <a:solidFill>
                  <a:srgbClr val="F4F2EC"/>
                </a:solidFill>
                <a:latin typeface="Manrope"/>
              </a:rPr>
              <a:t>КП в течение дня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4850" y="5086350"/>
            <a:ext cx="2371725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850" y="5086350"/>
            <a:ext cx="237172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1050">
                <a:solidFill>
                  <a:srgbClr val="F4F2EC"/>
                </a:solidFill>
                <a:latin typeface="Manrope"/>
              </a:rPr>
              <a:t>24/7 производство и монтаж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134100"/>
            <a:ext cx="177165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350">
                <a:solidFill>
                  <a:srgbClr val="D8FF3E"/>
                </a:solidFill>
                <a:latin typeface="Manrope"/>
              </a:rPr>
              <a:t>+7 495 799-00-19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7900" y="6134100"/>
            <a:ext cx="200977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350">
                <a:solidFill>
                  <a:srgbClr val="98989F"/>
                </a:solidFill>
                <a:latin typeface="Manrope SemiBold"/>
              </a:rPr>
              <a:t>sm-pro1@yandex.ru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0525" y="61341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350">
                <a:solidFill>
                  <a:srgbClr val="98989F"/>
                </a:solidFill>
                <a:latin typeface="Manrope SemiBold"/>
              </a:rPr>
              <a:t>sm-production.ru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438900"/>
            <a:ext cx="46101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125">
                <a:solidFill>
                  <a:srgbClr val="98989F"/>
                </a:solidFill>
                <a:latin typeface="Manrope SemiBold"/>
              </a:rPr>
              <a:t>Москва, Остаповский проезд — центральное производство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ptx_52128369421493384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0"/>
            <a:ext cx="47625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561975"/>
            <a:ext cx="323850" cy="30480"/>
          </a:xfrm>
          <a:prstGeom prst="rect">
            <a:avLst/>
          </a:prstGeom>
          <a:solidFill>
            <a:srgbClr val="FF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1550" y="409575"/>
            <a:ext cx="8763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Manrope"/>
              </a:rPr>
              <a:t>КТО 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38759"/>
            <a:ext cx="5229225" cy="701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450">
                <a:solidFill>
                  <a:srgbClr val="F4F2EC"/>
                </a:solidFill>
                <a:latin typeface="Unbounded ExtraBold"/>
              </a:rPr>
              <a:t>Производство,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229487"/>
            <a:ext cx="1343025" cy="701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450">
                <a:solidFill>
                  <a:srgbClr val="F4F2EC"/>
                </a:solidFill>
                <a:latin typeface="Unbounded ExtraBold"/>
              </a:rPr>
              <a:t>а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1229487"/>
            <a:ext cx="5172075" cy="701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450">
                <a:solidFill>
                  <a:srgbClr val="FF4D1C"/>
                </a:solidFill>
                <a:latin typeface="Unbounded ExtraBold"/>
              </a:rPr>
              <a:t>не посредники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962150"/>
            <a:ext cx="6648450" cy="1295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0" sz="1500">
                <a:solidFill>
                  <a:srgbClr val="D9D6CD"/>
                </a:solidFill>
                <a:latin typeface="Manrope"/>
              </a:rPr>
              <a:t>SM-Production — производственная компания полного цикла: от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0" sz="1500">
                <a:solidFill>
                  <a:srgbClr val="D9D6CD"/>
                </a:solidFill>
                <a:latin typeface="Manrope"/>
              </a:rPr>
              <a:t>концепции и 3D-визуализации до печати, изготовления конструкций и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0" sz="1500">
                <a:solidFill>
                  <a:srgbClr val="D9D6CD"/>
                </a:solidFill>
                <a:latin typeface="Manrope"/>
              </a:rPr>
              <a:t>монтажа на объекте. Свой цех на Остаповском проезде в Москве — вы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0" sz="1500">
                <a:solidFill>
                  <a:srgbClr val="D9D6CD"/>
                </a:solidFill>
                <a:latin typeface="Manrope"/>
              </a:rPr>
              <a:t>не переплачиваете наценку посредников.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3143250"/>
            <a:ext cx="3238500" cy="914400"/>
          </a:xfrm>
          <a:prstGeom prst="roundRect">
            <a:avLst>
              <a:gd name="adj" fmla="val 18750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3314700"/>
            <a:ext cx="1476375" cy="518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2550">
                <a:solidFill>
                  <a:srgbClr val="FF4D1C"/>
                </a:solidFill>
                <a:latin typeface="Unbounded ExtraBold"/>
              </a:rPr>
              <a:t>от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762375"/>
            <a:ext cx="22479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900">
                <a:solidFill>
                  <a:srgbClr val="98989F"/>
                </a:solidFill>
                <a:latin typeface="Manrope"/>
              </a:rPr>
              <a:t>ДНЕЙ — СРОЧНЫЕ КОНСТРУКЦИИ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24300" y="3143250"/>
            <a:ext cx="3238500" cy="914400"/>
          </a:xfrm>
          <a:prstGeom prst="roundRect">
            <a:avLst>
              <a:gd name="adj" fmla="val 18750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2900" y="3314700"/>
            <a:ext cx="1657350" cy="518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2550">
                <a:solidFill>
                  <a:srgbClr val="FF4D1C"/>
                </a:solidFill>
                <a:latin typeface="Unbounded ExtraBold"/>
              </a:rPr>
              <a:t>от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2900" y="3762375"/>
            <a:ext cx="1971675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900">
                <a:solidFill>
                  <a:srgbClr val="98989F"/>
                </a:solidFill>
                <a:latin typeface="Manrope"/>
              </a:rPr>
              <a:t>ЧАСОВ — БАННЕРЫ И ПЕЧАТЬ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" y="4210050"/>
            <a:ext cx="3238500" cy="914400"/>
          </a:xfrm>
          <a:prstGeom prst="roundRect">
            <a:avLst>
              <a:gd name="adj" fmla="val 18750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4381500"/>
            <a:ext cx="1609725" cy="518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2550">
                <a:solidFill>
                  <a:srgbClr val="FF4D1C"/>
                </a:solidFill>
                <a:latin typeface="Unbounded ExtraBold"/>
              </a:rPr>
              <a:t>24/7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829175"/>
            <a:ext cx="1952625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900">
                <a:solidFill>
                  <a:srgbClr val="98989F"/>
                </a:solidFill>
                <a:latin typeface="Manrope"/>
              </a:rPr>
              <a:t>ПРОИЗВОДСТВО И МОНТАЖ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24300" y="4210050"/>
            <a:ext cx="3238500" cy="914400"/>
          </a:xfrm>
          <a:prstGeom prst="roundRect">
            <a:avLst>
              <a:gd name="adj" fmla="val 18750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52900" y="4381500"/>
            <a:ext cx="2047875" cy="518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2550">
                <a:solidFill>
                  <a:srgbClr val="FF4D1C"/>
                </a:solidFill>
                <a:latin typeface="Unbounded ExtraBold"/>
              </a:rPr>
              <a:t>ПН–ПТ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2900" y="4829175"/>
            <a:ext cx="18669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900">
                <a:solidFill>
                  <a:srgbClr val="98989F"/>
                </a:solidFill>
                <a:latin typeface="Manrope"/>
              </a:rPr>
              <a:t>ПРИЁМ ЗАЯВОК 10:00–18:00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400" y="5467350"/>
            <a:ext cx="4562475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" y="5467350"/>
            <a:ext cx="456247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1050">
                <a:solidFill>
                  <a:srgbClr val="F4F2EC"/>
                </a:solidFill>
                <a:latin typeface="Manrope"/>
              </a:rPr>
              <a:t>Москва, Остаповский проезд — центральное производство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0175" y="5467350"/>
            <a:ext cx="2819400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0175" y="5467350"/>
            <a:ext cx="28194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1050">
                <a:solidFill>
                  <a:srgbClr val="F4F2EC"/>
                </a:solidFill>
                <a:latin typeface="Manrope"/>
              </a:rPr>
              <a:t>Доставка и монтаж по всей России</a:t>
            </a:r>
          </a:p>
        </p:txBody>
      </p:sp>
      <p:pic>
        <p:nvPicPr>
          <p:cNvPr id="25" name="Picture 24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524625"/>
            <a:ext cx="311612" cy="1809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8200" y="6581775"/>
            <a:ext cx="3190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707078"/>
                </a:solidFill>
                <a:latin typeface="Manrope SemiBold"/>
              </a:rPr>
              <a:t>SM-PRODUCTION · БРЕНДИНГ ДЛЯ АВТОСАЛОНОВ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58550" y="6581775"/>
            <a:ext cx="4000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0" sz="937">
                <a:solidFill>
                  <a:srgbClr val="FF4D1C"/>
                </a:solidFill>
                <a:latin typeface="Manrope Extra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61975"/>
            <a:ext cx="323850" cy="30480"/>
          </a:xfrm>
          <a:prstGeom prst="rect">
            <a:avLst/>
          </a:prstGeom>
          <a:solidFill>
            <a:srgbClr val="FF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1550" y="409575"/>
            <a:ext cx="8763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Manrope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738759"/>
            <a:ext cx="9877425" cy="701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450">
                <a:solidFill>
                  <a:srgbClr val="F4F2EC"/>
                </a:solidFill>
                <a:latin typeface="Unbounded ExtraBold"/>
              </a:rPr>
              <a:t>Почему оформление салона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29487"/>
            <a:ext cx="1962150" cy="701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450">
                <a:solidFill>
                  <a:srgbClr val="F4F2EC"/>
                </a:solidFill>
                <a:latin typeface="Unbounded ExtraBold"/>
              </a:rPr>
              <a:t>это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9250" y="1229487"/>
            <a:ext cx="6981825" cy="701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450">
                <a:solidFill>
                  <a:srgbClr val="FF4D1C"/>
                </a:solidFill>
                <a:latin typeface="Unbounded ExtraBold"/>
              </a:rPr>
              <a:t>не «просто баннеры»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2076450"/>
            <a:ext cx="3505200" cy="1714500"/>
          </a:xfrm>
          <a:prstGeom prst="roundRect">
            <a:avLst>
              <a:gd name="adj" fmla="val 10000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" y="2257425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Unbounded"/>
              </a:rPr>
              <a:t>БЕЗЛИКИЙ ШОУРУМ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514600"/>
            <a:ext cx="31623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sz="1125">
                <a:solidFill>
                  <a:srgbClr val="D9D6CD"/>
                </a:solidFill>
                <a:latin typeface="Manrope SemiBold"/>
              </a:rPr>
              <a:t>Ресепшн и зона продаж не работают на</a:t>
            </a:r>
          </a:p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sz="1125">
                <a:solidFill>
                  <a:srgbClr val="D9D6CD"/>
                </a:solidFill>
                <a:latin typeface="Manrope SemiBold"/>
              </a:rPr>
              <a:t>бренд и не создают впечатления</a:t>
            </a:r>
          </a:p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sz="1125">
                <a:solidFill>
                  <a:srgbClr val="D9D6CD"/>
                </a:solidFill>
                <a:latin typeface="Manrope SemiBold"/>
              </a:rPr>
              <a:t>премиум-производителя.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3200400"/>
            <a:ext cx="3162300" cy="5048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FF4D1C"/>
                </a:solidFill>
                <a:latin typeface="Manrope"/>
              </a:rPr>
              <a:t>→ Брендирование интерьера под ключ с</a:t>
            </a:r>
          </a:p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FF4D1C"/>
                </a:solidFill>
                <a:latin typeface="Manrope"/>
              </a:rPr>
              <a:t>3D-визуализацией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1000" y="2076450"/>
            <a:ext cx="3505200" cy="1714500"/>
          </a:xfrm>
          <a:prstGeom prst="roundRect">
            <a:avLst>
              <a:gd name="adj" fmla="val 10000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0550" y="2257425"/>
            <a:ext cx="147637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Unbounded"/>
              </a:rPr>
              <a:t>СРОЧНОСТЬ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0550" y="2514600"/>
            <a:ext cx="31623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sz="1125">
                <a:solidFill>
                  <a:srgbClr val="D9D6CD"/>
                </a:solidFill>
                <a:latin typeface="Manrope SemiBold"/>
              </a:rPr>
              <a:t>Открытие, старт продаж, приезд зоны,</a:t>
            </a:r>
          </a:p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sz="1125">
                <a:solidFill>
                  <a:srgbClr val="D9D6CD"/>
                </a:solidFill>
                <a:latin typeface="Manrope SemiBold"/>
              </a:rPr>
              <a:t>день открытых дверей — дедлайн не ждёт</a:t>
            </a:r>
          </a:p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sz="1125">
                <a:solidFill>
                  <a:srgbClr val="D9D6CD"/>
                </a:solidFill>
                <a:latin typeface="Manrope SemiBold"/>
              </a:rPr>
              <a:t>согласований.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550" y="3200400"/>
            <a:ext cx="3162300" cy="3190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FF4D1C"/>
                </a:solidFill>
                <a:latin typeface="Manrope"/>
              </a:rPr>
              <a:t>→ Конструкция с экраном 5×3 м за 3 дня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" y="3943350"/>
            <a:ext cx="3505200" cy="1714500"/>
          </a:xfrm>
          <a:prstGeom prst="roundRect">
            <a:avLst>
              <a:gd name="adj" fmla="val 10000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950" y="4124325"/>
            <a:ext cx="221932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Unbounded"/>
              </a:rPr>
              <a:t>БРЕНД-СТАНДАРТЫ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4381500"/>
            <a:ext cx="31623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sz="1125">
                <a:solidFill>
                  <a:srgbClr val="D9D6CD"/>
                </a:solidFill>
                <a:latin typeface="Manrope SemiBold"/>
              </a:rPr>
              <a:t>Производитель требует точного</a:t>
            </a:r>
          </a:p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sz="1125">
                <a:solidFill>
                  <a:srgbClr val="D9D6CD"/>
                </a:solidFill>
                <a:latin typeface="Manrope SemiBold"/>
              </a:rPr>
              <a:t>соблюдения фирменного стиля — любая</a:t>
            </a:r>
          </a:p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sz="1125">
                <a:solidFill>
                  <a:srgbClr val="D9D6CD"/>
                </a:solidFill>
                <a:latin typeface="Manrope SemiBold"/>
              </a:rPr>
              <a:t>ошибка в цвете или макете.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5067300"/>
            <a:ext cx="3162300" cy="5048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FF4D1C"/>
                </a:solidFill>
                <a:latin typeface="Manrope"/>
              </a:rPr>
              <a:t>→ Работа по брендбуку, проверка</a:t>
            </a:r>
          </a:p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FF4D1C"/>
                </a:solidFill>
                <a:latin typeface="Manrope"/>
              </a:rPr>
              <a:t>пантонов бесплатно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91000" y="3943350"/>
            <a:ext cx="3505200" cy="1714500"/>
          </a:xfrm>
          <a:prstGeom prst="roundRect">
            <a:avLst>
              <a:gd name="adj" fmla="val 10000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0550" y="4124325"/>
            <a:ext cx="27622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Unbounded"/>
              </a:rPr>
              <a:t>ДЕСЯТОК ПОДРЯДЧИКОВ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0550" y="4381500"/>
            <a:ext cx="31623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sz="1125">
                <a:solidFill>
                  <a:srgbClr val="D9D6CD"/>
                </a:solidFill>
                <a:latin typeface="Manrope SemiBold"/>
              </a:rPr>
              <a:t>Печатники, светильщики, мебельщики,</a:t>
            </a:r>
          </a:p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sz="1125">
                <a:solidFill>
                  <a:srgbClr val="D9D6CD"/>
                </a:solidFill>
                <a:latin typeface="Manrope SemiBold"/>
              </a:rPr>
              <a:t>монтажники — и никому нельзя</a:t>
            </a:r>
          </a:p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sz="1125">
                <a:solidFill>
                  <a:srgbClr val="D9D6CD"/>
                </a:solidFill>
                <a:latin typeface="Manrope SemiBold"/>
              </a:rPr>
              <a:t>предъявить за результат.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0550" y="5067300"/>
            <a:ext cx="3162300" cy="5048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FF4D1C"/>
                </a:solidFill>
                <a:latin typeface="Manrope"/>
              </a:rPr>
              <a:t>→ Один подрядчик полного цикла: проект,</a:t>
            </a:r>
          </a:p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FF4D1C"/>
                </a:solidFill>
                <a:latin typeface="Manrope"/>
              </a:rPr>
              <a:t>производство, монтаж</a:t>
            </a:r>
          </a:p>
        </p:txBody>
      </p:sp>
      <p:pic>
        <p:nvPicPr>
          <p:cNvPr id="23" name="Picture 22" descr="pptx_63368381262150921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2076450"/>
            <a:ext cx="3733800" cy="1714500"/>
          </a:xfrm>
          <a:prstGeom prst="roundRect">
            <a:avLst>
              <a:gd name="adj" fmla="val 10000"/>
            </a:avLst>
          </a:prstGeom>
        </p:spPr>
      </p:pic>
      <p:pic>
        <p:nvPicPr>
          <p:cNvPr id="24" name="Picture 23" descr="pptx_67390983229542769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3943350"/>
            <a:ext cx="3733800" cy="1714500"/>
          </a:xfrm>
          <a:prstGeom prst="roundRect">
            <a:avLst>
              <a:gd name="adj" fmla="val 10000"/>
            </a:avLst>
          </a:prstGeom>
        </p:spPr>
      </p:pic>
      <p:pic>
        <p:nvPicPr>
          <p:cNvPr id="25" name="Picture 24" descr="logo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524625"/>
            <a:ext cx="311612" cy="1809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8200" y="6581775"/>
            <a:ext cx="3190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707078"/>
                </a:solidFill>
                <a:latin typeface="Manrope SemiBold"/>
              </a:rPr>
              <a:t>SM-PRODUCTION · БРЕНДИНГ ДЛЯ АВТОСАЛОНОВ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58550" y="6581775"/>
            <a:ext cx="4000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0" sz="937">
                <a:solidFill>
                  <a:srgbClr val="FF4D1C"/>
                </a:solidFill>
                <a:latin typeface="Manrope Extra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61975"/>
            <a:ext cx="323850" cy="30480"/>
          </a:xfrm>
          <a:prstGeom prst="rect">
            <a:avLst/>
          </a:prstGeom>
          <a:solidFill>
            <a:srgbClr val="FF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1550" y="409575"/>
            <a:ext cx="12382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Manrope"/>
              </a:rPr>
              <a:t>ЧТО ДЕЛАЕМ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741426"/>
            <a:ext cx="6781800" cy="67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300">
                <a:solidFill>
                  <a:srgbClr val="F4F2EC"/>
                </a:solidFill>
                <a:latin typeface="Unbounded ExtraBold"/>
              </a:rPr>
              <a:t>Четыре направления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0" y="741426"/>
            <a:ext cx="5334000" cy="67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300">
                <a:solidFill>
                  <a:srgbClr val="FF4D1C"/>
                </a:solidFill>
                <a:latin typeface="Unbounded ExtraBold"/>
              </a:rPr>
              <a:t>для автосалона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962150"/>
            <a:ext cx="5486400" cy="2000250"/>
          </a:xfrm>
          <a:prstGeom prst="roundRect">
            <a:avLst>
              <a:gd name="adj" fmla="val 8571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x_66106758976946884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095500"/>
            <a:ext cx="1428750" cy="1733550"/>
          </a:xfrm>
          <a:prstGeom prst="roundRect">
            <a:avLst>
              <a:gd name="adj" fmla="val 8000"/>
            </a:avLst>
          </a:prstGeom>
        </p:spPr>
      </p:pic>
      <p:sp>
        <p:nvSpPr>
          <p:cNvPr id="8" name="Rounded Rectangle 7"/>
          <p:cNvSpPr/>
          <p:nvPr/>
        </p:nvSpPr>
        <p:spPr>
          <a:xfrm>
            <a:off x="2266950" y="217170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14141C"/>
          </a:solidFill>
          <a:ln w="12700">
            <a:solidFill>
              <a:srgbClr val="FF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6950" y="2171700"/>
            <a:ext cx="1066800" cy="285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F4D1C"/>
                </a:solidFill>
                <a:latin typeface="Manrope"/>
              </a:rPr>
              <a:t>A · Интерьер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6950" y="2628900"/>
            <a:ext cx="332422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350">
                <a:solidFill>
                  <a:srgbClr val="F4F2EC"/>
                </a:solidFill>
                <a:latin typeface="Unbounded ExtraBold"/>
              </a:rPr>
              <a:t>Зона ресепшн и интерьер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6950" y="2952750"/>
            <a:ext cx="3657600" cy="514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98989F"/>
                </a:solidFill>
                <a:latin typeface="Manrope SemiBold"/>
              </a:rPr>
              <a:t>Стойки ресепшн, объёмные логотипы, навигация,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98989F"/>
                </a:solidFill>
                <a:latin typeface="Manrope SemiBold"/>
              </a:rPr>
              <a:t>брендирование стен и зон ожидания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62150"/>
            <a:ext cx="5486400" cy="2000250"/>
          </a:xfrm>
          <a:prstGeom prst="roundRect">
            <a:avLst>
              <a:gd name="adj" fmla="val 8571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ptx_46712840592297107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2095500"/>
            <a:ext cx="1428750" cy="1733550"/>
          </a:xfrm>
          <a:prstGeom prst="roundRect">
            <a:avLst>
              <a:gd name="adj" fmla="val 8000"/>
            </a:avLst>
          </a:prstGeom>
        </p:spPr>
      </p:pic>
      <p:sp>
        <p:nvSpPr>
          <p:cNvPr id="14" name="Rounded Rectangle 13"/>
          <p:cNvSpPr/>
          <p:nvPr/>
        </p:nvSpPr>
        <p:spPr>
          <a:xfrm>
            <a:off x="7905750" y="2171700"/>
            <a:ext cx="847725" cy="285750"/>
          </a:xfrm>
          <a:prstGeom prst="roundRect">
            <a:avLst>
              <a:gd name="adj" fmla="val 50000"/>
            </a:avLst>
          </a:prstGeom>
          <a:solidFill>
            <a:srgbClr val="14141C"/>
          </a:solidFill>
          <a:ln w="12700">
            <a:solidFill>
              <a:srgbClr val="FF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5750" y="2171700"/>
            <a:ext cx="847725" cy="285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F4D1C"/>
                </a:solidFill>
                <a:latin typeface="Manrope"/>
              </a:rPr>
              <a:t>B · Фасад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0" y="2628900"/>
            <a:ext cx="385762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350">
                <a:solidFill>
                  <a:srgbClr val="F4F2EC"/>
                </a:solidFill>
                <a:latin typeface="Unbounded ExtraBold"/>
              </a:rPr>
              <a:t>Вывески и наружная реклама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0" y="2952750"/>
            <a:ext cx="3657600" cy="514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98989F"/>
                </a:solidFill>
                <a:latin typeface="Manrope SemiBold"/>
              </a:rPr>
              <a:t>Световые короба и объёмные буквы, баннеры на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98989F"/>
                </a:solidFill>
                <a:latin typeface="Manrope SemiBold"/>
              </a:rPr>
              <a:t>фасад, флаги и виндеры, уличные конструкции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4114800"/>
            <a:ext cx="5486400" cy="2000250"/>
          </a:xfrm>
          <a:prstGeom prst="roundRect">
            <a:avLst>
              <a:gd name="adj" fmla="val 8571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ptx_525912874845655539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4248150"/>
            <a:ext cx="1428750" cy="1733550"/>
          </a:xfrm>
          <a:prstGeom prst="roundRect">
            <a:avLst>
              <a:gd name="adj" fmla="val 8000"/>
            </a:avLst>
          </a:prstGeom>
        </p:spPr>
      </p:pic>
      <p:sp>
        <p:nvSpPr>
          <p:cNvPr id="20" name="Rounded Rectangle 19"/>
          <p:cNvSpPr/>
          <p:nvPr/>
        </p:nvSpPr>
        <p:spPr>
          <a:xfrm>
            <a:off x="2266950" y="43243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14141C"/>
          </a:solidFill>
          <a:ln w="12700">
            <a:solidFill>
              <a:srgbClr val="FF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66950" y="432435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F4D1C"/>
                </a:solidFill>
                <a:latin typeface="Manrope"/>
              </a:rPr>
              <a:t>C · Мероприятия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6950" y="4781550"/>
            <a:ext cx="2438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350">
                <a:solidFill>
                  <a:srgbClr val="F4F2EC"/>
                </a:solidFill>
                <a:latin typeface="Unbounded ExtraBold"/>
              </a:rPr>
              <a:t>События в салоне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6950" y="5105400"/>
            <a:ext cx="3657600" cy="514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98989F"/>
                </a:solidFill>
                <a:latin typeface="Manrope SemiBold"/>
              </a:rPr>
              <a:t>Дни открытых дверей, старты продаж,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98989F"/>
                </a:solidFill>
                <a:latin typeface="Manrope SemiBold"/>
              </a:rPr>
              <a:t>презентации моделей, конференции дилеров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114800"/>
            <a:ext cx="5486400" cy="2000250"/>
          </a:xfrm>
          <a:prstGeom prst="roundRect">
            <a:avLst>
              <a:gd name="adj" fmla="val 8571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ptx_886314883881907731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550" y="4248150"/>
            <a:ext cx="1428750" cy="1733550"/>
          </a:xfrm>
          <a:prstGeom prst="roundRect">
            <a:avLst>
              <a:gd name="adj" fmla="val 8000"/>
            </a:avLst>
          </a:prstGeom>
        </p:spPr>
      </p:pic>
      <p:sp>
        <p:nvSpPr>
          <p:cNvPr id="26" name="Rounded Rectangle 25"/>
          <p:cNvSpPr/>
          <p:nvPr/>
        </p:nvSpPr>
        <p:spPr>
          <a:xfrm>
            <a:off x="7905750" y="4324350"/>
            <a:ext cx="828675" cy="285750"/>
          </a:xfrm>
          <a:prstGeom prst="roundRect">
            <a:avLst>
              <a:gd name="adj" fmla="val 50000"/>
            </a:avLst>
          </a:prstGeom>
          <a:solidFill>
            <a:srgbClr val="14141C"/>
          </a:solidFill>
          <a:ln w="12700">
            <a:solidFill>
              <a:srgbClr val="FF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5750" y="4324350"/>
            <a:ext cx="828675" cy="285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F4D1C"/>
                </a:solidFill>
                <a:latin typeface="Manrope"/>
              </a:rPr>
              <a:t>D · Акции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5750" y="4781550"/>
            <a:ext cx="33147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350">
                <a:solidFill>
                  <a:srgbClr val="F4F2EC"/>
                </a:solidFill>
                <a:latin typeface="Unbounded ExtraBold"/>
              </a:rPr>
              <a:t>Сезонные акции и печать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5750" y="5105400"/>
            <a:ext cx="3657600" cy="514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98989F"/>
                </a:solidFill>
                <a:latin typeface="Manrope SemiBold"/>
              </a:rPr>
              <a:t>Срочная печать, сменные полотна,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98989F"/>
                </a:solidFill>
                <a:latin typeface="Manrope SemiBold"/>
              </a:rPr>
              <a:t>POS-продукция, оформление спецпредложений</a:t>
            </a:r>
          </a:p>
        </p:txBody>
      </p:sp>
      <p:pic>
        <p:nvPicPr>
          <p:cNvPr id="30" name="Picture 29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524625"/>
            <a:ext cx="311612" cy="1809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38200" y="6581775"/>
            <a:ext cx="3190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707078"/>
                </a:solidFill>
                <a:latin typeface="Manrope SemiBold"/>
              </a:rPr>
              <a:t>SM-PRODUCTION · БРЕНДИНГ ДЛЯ АВТОСАЛОНОВ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58550" y="6581775"/>
            <a:ext cx="4000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0" sz="937">
                <a:solidFill>
                  <a:srgbClr val="FF4D1C"/>
                </a:solidFill>
                <a:latin typeface="Manrope Extra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ptx_846342614579886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2925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5772150"/>
            <a:ext cx="1085850" cy="342900"/>
          </a:xfrm>
          <a:prstGeom prst="roundRect">
            <a:avLst>
              <a:gd name="adj" fmla="val 50000"/>
            </a:avLst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5772150"/>
            <a:ext cx="108585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1050">
                <a:solidFill>
                  <a:srgbClr val="0A0A0D"/>
                </a:solidFill>
                <a:latin typeface="Manrope"/>
              </a:rPr>
              <a:t>Решение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2650" y="561975"/>
            <a:ext cx="323850" cy="30480"/>
          </a:xfrm>
          <a:prstGeom prst="rect">
            <a:avLst/>
          </a:prstGeom>
          <a:solidFill>
            <a:srgbClr val="FF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409575"/>
            <a:ext cx="105727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Manrope"/>
              </a:rPr>
              <a:t>ИНТЕРЬЕР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2650" y="749427"/>
            <a:ext cx="4133850" cy="57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2850">
                <a:solidFill>
                  <a:srgbClr val="F4F2EC"/>
                </a:solidFill>
                <a:latin typeface="Unbounded ExtraBold"/>
              </a:rPr>
              <a:t>Зона ресепшн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2650" y="1154811"/>
            <a:ext cx="3429000" cy="57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2850">
                <a:solidFill>
                  <a:srgbClr val="F4F2EC"/>
                </a:solidFill>
                <a:latin typeface="Unbounded ExtraBold"/>
              </a:rPr>
              <a:t>и интерьер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0" y="1154811"/>
            <a:ext cx="2981325" cy="57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2850">
                <a:solidFill>
                  <a:srgbClr val="FF4D1C"/>
                </a:solidFill>
                <a:latin typeface="Unbounded ExtraBold"/>
              </a:rPr>
              <a:t>под ключ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2650" y="2066925"/>
            <a:ext cx="4191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D8FF3E"/>
                </a:solidFill>
                <a:latin typeface="Manrope ExtraBol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00" y="2114550"/>
            <a:ext cx="54102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F4F2EC"/>
                </a:solidFill>
                <a:latin typeface="Manrope SemiBold"/>
              </a:rPr>
              <a:t>Стойка ресепшн по индивидуальному дизайну: МДФ эмаль, акрил,</a:t>
            </a:r>
          </a:p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F4F2EC"/>
                </a:solidFill>
                <a:latin typeface="Manrope SemiBold"/>
              </a:rPr>
              <a:t>подсветка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2650" y="2647950"/>
            <a:ext cx="5695950" cy="9525"/>
          </a:xfrm>
          <a:prstGeom prst="rect">
            <a:avLst/>
          </a:prstGeom>
          <a:solidFill>
            <a:srgbClr val="3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2650" y="2733675"/>
            <a:ext cx="4191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D8FF3E"/>
                </a:solidFill>
                <a:latin typeface="Manrope ExtraBol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300" y="2781300"/>
            <a:ext cx="5410200" cy="361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F4F2EC"/>
                </a:solidFill>
                <a:latin typeface="Manrope SemiBold"/>
              </a:rPr>
              <a:t>Объёмный логотип с контражурной подсветкой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62650" y="3105150"/>
            <a:ext cx="5695950" cy="9525"/>
          </a:xfrm>
          <a:prstGeom prst="rect">
            <a:avLst/>
          </a:prstGeom>
          <a:solidFill>
            <a:srgbClr val="3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2650" y="3190875"/>
            <a:ext cx="4191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D8FF3E"/>
                </a:solidFill>
                <a:latin typeface="Manrope ExtraBol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300" y="3238500"/>
            <a:ext cx="5410200" cy="361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F4F2EC"/>
                </a:solidFill>
                <a:latin typeface="Manrope SemiBold"/>
              </a:rPr>
              <a:t>Навигация, таблички, брендирование стен и зон ожидания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62650" y="3562350"/>
            <a:ext cx="5695950" cy="9525"/>
          </a:xfrm>
          <a:prstGeom prst="rect">
            <a:avLst/>
          </a:prstGeom>
          <a:solidFill>
            <a:srgbClr val="3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62650" y="3648075"/>
            <a:ext cx="4191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D8FF3E"/>
                </a:solidFill>
                <a:latin typeface="Manrope Extra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300" y="3695700"/>
            <a:ext cx="5410200" cy="361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F4F2EC"/>
                </a:solidFill>
                <a:latin typeface="Manrope SemiBold"/>
              </a:rPr>
              <a:t>Замер, 3D-визуализация, монтаж без остановки работы салона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62650" y="4438650"/>
            <a:ext cx="2762250" cy="838200"/>
          </a:xfrm>
          <a:prstGeom prst="roundRect">
            <a:avLst>
              <a:gd name="adj" fmla="val 20454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4100" y="4629150"/>
            <a:ext cx="187642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500">
                <a:solidFill>
                  <a:srgbClr val="FF4D1C"/>
                </a:solidFill>
                <a:latin typeface="Unbounded ExtraBold"/>
              </a:rPr>
              <a:t>от 89 000 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4100" y="4914900"/>
            <a:ext cx="2495550" cy="2714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b="0" sz="937">
                <a:solidFill>
                  <a:srgbClr val="98989F"/>
                </a:solidFill>
                <a:latin typeface="Manrope SemiBold"/>
              </a:rPr>
              <a:t>стойка ресепшн стандарт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77300" y="4438650"/>
            <a:ext cx="2762250" cy="838200"/>
          </a:xfrm>
          <a:prstGeom prst="roundRect">
            <a:avLst>
              <a:gd name="adj" fmla="val 20454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48750" y="4629150"/>
            <a:ext cx="202882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500">
                <a:solidFill>
                  <a:srgbClr val="FF4D1C"/>
                </a:solidFill>
                <a:latin typeface="Unbounded ExtraBold"/>
              </a:rPr>
              <a:t>от 250 000 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8750" y="4914900"/>
            <a:ext cx="2495550" cy="2714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b="0" sz="937">
                <a:solidFill>
                  <a:srgbClr val="98989F"/>
                </a:solidFill>
                <a:latin typeface="Manrope SemiBold"/>
              </a:rPr>
              <a:t>зона ресепшн «под ключ»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2650" y="5429250"/>
            <a:ext cx="2762250" cy="838200"/>
          </a:xfrm>
          <a:prstGeom prst="roundRect">
            <a:avLst>
              <a:gd name="adj" fmla="val 20454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4100" y="5619750"/>
            <a:ext cx="206692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500">
                <a:solidFill>
                  <a:srgbClr val="FF4D1C"/>
                </a:solidFill>
                <a:latin typeface="Unbounded ExtraBold"/>
              </a:rPr>
              <a:t>от 19 500 ₽/м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4100" y="5905500"/>
            <a:ext cx="2495550" cy="2714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b="0" sz="937">
                <a:solidFill>
                  <a:srgbClr val="98989F"/>
                </a:solidFill>
                <a:latin typeface="Manrope SemiBold"/>
              </a:rPr>
              <a:t>объёмный логотип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77300" y="5429250"/>
            <a:ext cx="2762250" cy="838200"/>
          </a:xfrm>
          <a:prstGeom prst="roundRect">
            <a:avLst>
              <a:gd name="adj" fmla="val 20454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48750" y="5619750"/>
            <a:ext cx="157162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500">
                <a:solidFill>
                  <a:srgbClr val="FF4D1C"/>
                </a:solidFill>
                <a:latin typeface="Unbounded ExtraBold"/>
              </a:rPr>
              <a:t>от 7 дней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8750" y="5905500"/>
            <a:ext cx="2495550" cy="2714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b="0" sz="937">
                <a:solidFill>
                  <a:srgbClr val="98989F"/>
                </a:solidFill>
                <a:latin typeface="Manrope SemiBold"/>
              </a:rPr>
              <a:t>срочно — от 3 дней</a:t>
            </a:r>
          </a:p>
        </p:txBody>
      </p:sp>
      <p:pic>
        <p:nvPicPr>
          <p:cNvPr id="33" name="Picture 32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524625"/>
            <a:ext cx="311612" cy="1809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8200" y="6581775"/>
            <a:ext cx="3190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707078"/>
                </a:solidFill>
                <a:latin typeface="Manrope SemiBold"/>
              </a:rPr>
              <a:t>SM-PRODUCTION · БРЕНДИНГ ДЛЯ АВТОСАЛОНОВ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68075" y="6581775"/>
            <a:ext cx="3905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0" sz="937">
                <a:solidFill>
                  <a:srgbClr val="FF4D1C"/>
                </a:solidFill>
                <a:latin typeface="Manrope Extra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ptx_25684342629002129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0" y="0"/>
            <a:ext cx="542925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848850" y="5772150"/>
            <a:ext cx="1085850" cy="342900"/>
          </a:xfrm>
          <a:prstGeom prst="roundRect">
            <a:avLst>
              <a:gd name="adj" fmla="val 50000"/>
            </a:avLst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48850" y="5772150"/>
            <a:ext cx="108585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1050">
                <a:solidFill>
                  <a:srgbClr val="0A0A0D"/>
                </a:solidFill>
                <a:latin typeface="Manrope"/>
              </a:rPr>
              <a:t>Решение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561975"/>
            <a:ext cx="323850" cy="30480"/>
          </a:xfrm>
          <a:prstGeom prst="rect">
            <a:avLst/>
          </a:prstGeom>
          <a:solidFill>
            <a:srgbClr val="FF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1550" y="409575"/>
            <a:ext cx="252412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Manrope"/>
              </a:rPr>
              <a:t>ФАСАД И НАРУЖНАЯ РЕКЛАМА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749427"/>
            <a:ext cx="2333625" cy="57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2850">
                <a:solidFill>
                  <a:srgbClr val="F4F2EC"/>
                </a:solidFill>
                <a:latin typeface="Unbounded ExtraBold"/>
              </a:rPr>
              <a:t>Салон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3125" y="749427"/>
            <a:ext cx="4657725" cy="57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2850">
                <a:solidFill>
                  <a:srgbClr val="FF4D1C"/>
                </a:solidFill>
                <a:latin typeface="Unbounded ExtraBold"/>
              </a:rPr>
              <a:t>видно издалека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933575"/>
            <a:ext cx="4191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D8FF3E"/>
                </a:solidFill>
                <a:latin typeface="Manrope Extra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1981200"/>
            <a:ext cx="5029200" cy="361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F4F2EC"/>
                </a:solidFill>
                <a:latin typeface="Manrope SemiBold"/>
              </a:rPr>
              <a:t>Световые вывески, короба и объёмные буквы любой формы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2305050"/>
            <a:ext cx="6038850" cy="9525"/>
          </a:xfrm>
          <a:prstGeom prst="rect">
            <a:avLst/>
          </a:prstGeom>
          <a:solidFill>
            <a:srgbClr val="3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2390775"/>
            <a:ext cx="4191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D8FF3E"/>
                </a:solidFill>
                <a:latin typeface="Manrope ExtraBol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2438400"/>
            <a:ext cx="5029200" cy="361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F4F2EC"/>
                </a:solidFill>
                <a:latin typeface="Manrope SemiBold"/>
              </a:rPr>
              <a:t>Баннеры и фасадная графика — печать от 3 часов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2762250"/>
            <a:ext cx="6038850" cy="9525"/>
          </a:xfrm>
          <a:prstGeom prst="rect">
            <a:avLst/>
          </a:prstGeom>
          <a:solidFill>
            <a:srgbClr val="3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" y="2847975"/>
            <a:ext cx="4191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D8FF3E"/>
                </a:solidFill>
                <a:latin typeface="Manrope ExtraBol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2895600"/>
            <a:ext cx="5029200" cy="361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F4F2EC"/>
                </a:solidFill>
                <a:latin typeface="Manrope SemiBold"/>
              </a:rPr>
              <a:t>Флаги, виндеры и уличные конструкции для входной зоны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3219450"/>
            <a:ext cx="6038850" cy="9525"/>
          </a:xfrm>
          <a:prstGeom prst="rect">
            <a:avLst/>
          </a:prstGeom>
          <a:solidFill>
            <a:srgbClr val="3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400" y="3305175"/>
            <a:ext cx="4191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D8FF3E"/>
                </a:solidFill>
                <a:latin typeface="Manrope ExtraBol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3352800"/>
            <a:ext cx="5029200" cy="361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F4F2EC"/>
                </a:solidFill>
                <a:latin typeface="Manrope SemiBold"/>
              </a:rPr>
              <a:t>Защита от влаги и УФ — материалы для улицы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" y="4305300"/>
            <a:ext cx="2762250" cy="838200"/>
          </a:xfrm>
          <a:prstGeom prst="roundRect">
            <a:avLst>
              <a:gd name="adj" fmla="val 20454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4495800"/>
            <a:ext cx="18669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500">
                <a:solidFill>
                  <a:srgbClr val="FF4D1C"/>
                </a:solidFill>
                <a:latin typeface="Unbounded ExtraBold"/>
              </a:rPr>
              <a:t>от 900 ₽/м²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" y="4781550"/>
            <a:ext cx="2495550" cy="2714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b="0" sz="937">
                <a:solidFill>
                  <a:srgbClr val="98989F"/>
                </a:solidFill>
                <a:latin typeface="Manrope SemiBold"/>
              </a:rPr>
              <a:t>печать баннеров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48050" y="4305300"/>
            <a:ext cx="2762250" cy="838200"/>
          </a:xfrm>
          <a:prstGeom prst="roundRect">
            <a:avLst>
              <a:gd name="adj" fmla="val 20454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500" y="4495800"/>
            <a:ext cx="20574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500">
                <a:solidFill>
                  <a:srgbClr val="FF4D1C"/>
                </a:solidFill>
                <a:latin typeface="Unbounded ExtraBold"/>
              </a:rPr>
              <a:t>от 300 000 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9500" y="4781550"/>
            <a:ext cx="2495550" cy="2714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b="0" sz="937">
                <a:solidFill>
                  <a:srgbClr val="98989F"/>
                </a:solidFill>
                <a:latin typeface="Manrope SemiBold"/>
              </a:rPr>
              <a:t>уличные конструкции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3400" y="5295900"/>
            <a:ext cx="2762250" cy="838200"/>
          </a:xfrm>
          <a:prstGeom prst="roundRect">
            <a:avLst>
              <a:gd name="adj" fmla="val 20454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850" y="5486400"/>
            <a:ext cx="16764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500">
                <a:solidFill>
                  <a:srgbClr val="FF4D1C"/>
                </a:solidFill>
                <a:latin typeface="Unbounded ExtraBold"/>
              </a:rPr>
              <a:t>от 4 500 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850" y="5772150"/>
            <a:ext cx="2495550" cy="2714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b="0" sz="937">
                <a:solidFill>
                  <a:srgbClr val="98989F"/>
                </a:solidFill>
                <a:latin typeface="Manrope SemiBold"/>
              </a:rPr>
              <a:t>мобильные стенды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8050" y="5295900"/>
            <a:ext cx="2762250" cy="838200"/>
          </a:xfrm>
          <a:prstGeom prst="roundRect">
            <a:avLst>
              <a:gd name="adj" fmla="val 20454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9500" y="5486400"/>
            <a:ext cx="1819275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500">
                <a:solidFill>
                  <a:srgbClr val="FF4D1C"/>
                </a:solidFill>
                <a:latin typeface="Unbounded ExtraBold"/>
              </a:rPr>
              <a:t>от 12 часов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9500" y="5772150"/>
            <a:ext cx="2495550" cy="2714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b="0" sz="937">
                <a:solidFill>
                  <a:srgbClr val="98989F"/>
                </a:solidFill>
                <a:latin typeface="Manrope SemiBold"/>
              </a:rPr>
              <a:t>изготовление и монтаж</a:t>
            </a:r>
          </a:p>
        </p:txBody>
      </p:sp>
      <p:pic>
        <p:nvPicPr>
          <p:cNvPr id="32" name="Picture 3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524625"/>
            <a:ext cx="311612" cy="1809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38200" y="6581775"/>
            <a:ext cx="3190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707078"/>
                </a:solidFill>
                <a:latin typeface="Manrope SemiBold"/>
              </a:rPr>
              <a:t>SM-PRODUCTION · БРЕНДИНГ ДЛЯ АВТОСАЛОНОВ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58550" y="6581775"/>
            <a:ext cx="4000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0" sz="937">
                <a:solidFill>
                  <a:srgbClr val="FF4D1C"/>
                </a:solidFill>
                <a:latin typeface="Manrope Extra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61975"/>
            <a:ext cx="323850" cy="30480"/>
          </a:xfrm>
          <a:prstGeom prst="rect">
            <a:avLst/>
          </a:prstGeom>
          <a:solidFill>
            <a:srgbClr val="FF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1550" y="409575"/>
            <a:ext cx="218122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Manrope"/>
              </a:rPr>
              <a:t>МЕРОПРИЯТИЯ В САЛОНЕ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749427"/>
            <a:ext cx="9934575" cy="57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2850">
                <a:solidFill>
                  <a:srgbClr val="F4F2EC"/>
                </a:solidFill>
                <a:latin typeface="Unbounded ExtraBold"/>
              </a:rPr>
              <a:t>День открытых дверей, старт продаж,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54811"/>
            <a:ext cx="6219825" cy="57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2850">
                <a:solidFill>
                  <a:srgbClr val="FF4D1C"/>
                </a:solidFill>
                <a:latin typeface="Unbounded ExtraBold"/>
              </a:rPr>
              <a:t>конференция дилеров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25100" y="495300"/>
            <a:ext cx="1104900" cy="342900"/>
          </a:xfrm>
          <a:prstGeom prst="roundRect">
            <a:avLst>
              <a:gd name="adj" fmla="val 50000"/>
            </a:avLst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25100" y="495300"/>
            <a:ext cx="11049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1050">
                <a:solidFill>
                  <a:srgbClr val="0A0A0D"/>
                </a:solidFill>
                <a:latin typeface="Manrope"/>
              </a:rPr>
              <a:t>Решение C</a:t>
            </a:r>
          </a:p>
        </p:txBody>
      </p:sp>
      <p:pic>
        <p:nvPicPr>
          <p:cNvPr id="8" name="Picture 7" descr="pptx_86076736484830978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019300"/>
            <a:ext cx="5676900" cy="2724150"/>
          </a:xfrm>
          <a:prstGeom prst="roundRect">
            <a:avLst>
              <a:gd name="adj" fmla="val 5594"/>
            </a:avLst>
          </a:prstGeom>
        </p:spPr>
      </p:pic>
      <p:sp>
        <p:nvSpPr>
          <p:cNvPr id="9" name="Rectangle 8"/>
          <p:cNvSpPr/>
          <p:nvPr/>
        </p:nvSpPr>
        <p:spPr>
          <a:xfrm>
            <a:off x="533400" y="4267200"/>
            <a:ext cx="5676900" cy="476250"/>
          </a:xfrm>
          <a:prstGeom prst="rect">
            <a:avLst/>
          </a:prstGeom>
          <a:solidFill>
            <a:srgbClr val="0A0A0D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448175"/>
            <a:ext cx="43243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CFCCC4"/>
                </a:solidFill>
                <a:latin typeface="Manrope SemiBold"/>
              </a:rPr>
              <a:t>Ночной тест-драйв в салоне: баннер, свет, зона презентации модели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9300"/>
            <a:ext cx="5257800" cy="838200"/>
          </a:xfrm>
          <a:prstGeom prst="roundRect">
            <a:avLst>
              <a:gd name="adj" fmla="val 20454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1300" y="2171700"/>
            <a:ext cx="2981325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F4F2EC"/>
                </a:solidFill>
                <a:latin typeface="Unbounded ExtraBold"/>
              </a:rPr>
              <a:t>Сцена и каше для экрана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2419350"/>
            <a:ext cx="4953000" cy="4905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Комплект «конференция под ключ» — производство и монтаж за 24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часа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962275"/>
            <a:ext cx="5257800" cy="838200"/>
          </a:xfrm>
          <a:prstGeom prst="roundRect">
            <a:avLst>
              <a:gd name="adj" fmla="val 20454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1300" y="3114675"/>
            <a:ext cx="306705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F4F2EC"/>
                </a:solidFill>
                <a:latin typeface="Unbounded ExtraBold"/>
              </a:rPr>
              <a:t>Фотозона с автомобилем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3362325"/>
            <a:ext cx="4953000" cy="3095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Имиджевые фотозоны, бренд-зоны, press-wall для гостей и прессы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905250"/>
            <a:ext cx="5257800" cy="838200"/>
          </a:xfrm>
          <a:prstGeom prst="roundRect">
            <a:avLst>
              <a:gd name="adj" fmla="val 20454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1300" y="4057650"/>
            <a:ext cx="36195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F4F2EC"/>
                </a:solidFill>
                <a:latin typeface="Unbounded ExtraBold"/>
              </a:rPr>
              <a:t>Зона регистрации и навигация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300" y="4305300"/>
            <a:ext cx="4953000" cy="3095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Стойки, таблички, оформление входной группы и путей гостей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" y="5334000"/>
            <a:ext cx="2771775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400" y="5334000"/>
            <a:ext cx="277177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Конференция под ключ — от 89 000 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19475" y="5334000"/>
            <a:ext cx="1924050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9475" y="5334000"/>
            <a:ext cx="192405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Press-wall — от 22 000 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57825" y="5334000"/>
            <a:ext cx="1914525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57825" y="5334000"/>
            <a:ext cx="191452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Фотозоны — от 22 000 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86650" y="5334000"/>
            <a:ext cx="2771775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86650" y="5334000"/>
            <a:ext cx="277177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Имиджевые фотозоны — от 120 000 ₽</a:t>
            </a:r>
          </a:p>
        </p:txBody>
      </p:sp>
      <p:pic>
        <p:nvPicPr>
          <p:cNvPr id="28" name="Picture 27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524625"/>
            <a:ext cx="311612" cy="1809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38200" y="6581775"/>
            <a:ext cx="3190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707078"/>
                </a:solidFill>
                <a:latin typeface="Manrope SemiBold"/>
              </a:rPr>
              <a:t>SM-PRODUCTION · БРЕНДИНГ ДЛЯ АВТОСАЛОНОВ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68075" y="6581775"/>
            <a:ext cx="3905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0" sz="937">
                <a:solidFill>
                  <a:srgbClr val="FF4D1C"/>
                </a:solidFill>
                <a:latin typeface="Manrope Extra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61975"/>
            <a:ext cx="323850" cy="30480"/>
          </a:xfrm>
          <a:prstGeom prst="rect">
            <a:avLst/>
          </a:prstGeom>
          <a:solidFill>
            <a:srgbClr val="FF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1550" y="409575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Manrope"/>
              </a:rPr>
              <a:t>АКЦИИ И СРОЧНАЯ ПЕЧАТЬ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749427"/>
            <a:ext cx="4772025" cy="57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2850">
                <a:solidFill>
                  <a:srgbClr val="F4F2EC"/>
                </a:solidFill>
                <a:latin typeface="Unbounded ExtraBold"/>
              </a:rPr>
              <a:t>Сезонные акции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1525" y="749427"/>
            <a:ext cx="3857625" cy="57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2850">
                <a:solidFill>
                  <a:srgbClr val="FF4D1C"/>
                </a:solidFill>
                <a:latin typeface="Unbounded ExtraBold"/>
              </a:rPr>
              <a:t>без простоев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25100" y="495300"/>
            <a:ext cx="1095375" cy="342900"/>
          </a:xfrm>
          <a:prstGeom prst="roundRect">
            <a:avLst>
              <a:gd name="adj" fmla="val 50000"/>
            </a:avLst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25100" y="495300"/>
            <a:ext cx="109537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1050">
                <a:solidFill>
                  <a:srgbClr val="0A0A0D"/>
                </a:solidFill>
                <a:latin typeface="Manrope"/>
              </a:rPr>
              <a:t>Решение 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962150"/>
            <a:ext cx="5219700" cy="1009650"/>
          </a:xfrm>
          <a:prstGeom prst="roundRect">
            <a:avLst>
              <a:gd name="adj" fmla="val 16981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2133600"/>
            <a:ext cx="440055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F4F2EC"/>
                </a:solidFill>
                <a:latin typeface="Unbounded ExtraBold"/>
              </a:rPr>
              <a:t>Печать от 3 часов, баннеры за 12 часов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2381250"/>
            <a:ext cx="4914900" cy="4905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Срочное оформление спецпредложений, трейд-ин, сезонных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программ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3086100"/>
            <a:ext cx="5219700" cy="1009650"/>
          </a:xfrm>
          <a:prstGeom prst="roundRect">
            <a:avLst>
              <a:gd name="adj" fmla="val 16981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3257550"/>
            <a:ext cx="371475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F4F2EC"/>
                </a:solidFill>
                <a:latin typeface="Unbounded ExtraBold"/>
              </a:rPr>
              <a:t>Сменные полотна брус-баннера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3505200"/>
            <a:ext cx="4914900" cy="4905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Каркас остаётся у вас — на следующую акцию печатаем только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полотно, экономия до 40%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" y="4210050"/>
            <a:ext cx="5219700" cy="1009650"/>
          </a:xfrm>
          <a:prstGeom prst="roundRect">
            <a:avLst>
              <a:gd name="adj" fmla="val 16981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381500"/>
            <a:ext cx="3505200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F4F2EC"/>
                </a:solidFill>
                <a:latin typeface="Unbounded ExtraBold"/>
              </a:rPr>
              <a:t>POS-продукция и полиграфия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629150"/>
            <a:ext cx="4914900" cy="4905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Промо-острова, навигационные стойки, ценники, буклеты,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брендированные кубы</a:t>
            </a:r>
          </a:p>
        </p:txBody>
      </p:sp>
      <p:pic>
        <p:nvPicPr>
          <p:cNvPr id="17" name="Picture 16" descr="pptx_8549363567315690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62150"/>
            <a:ext cx="5715000" cy="3276600"/>
          </a:xfrm>
          <a:prstGeom prst="roundRect">
            <a:avLst>
              <a:gd name="adj" fmla="val 4651"/>
            </a:avLst>
          </a:prstGeom>
        </p:spPr>
      </p:pic>
      <p:sp>
        <p:nvSpPr>
          <p:cNvPr id="18" name="Rectangle 17"/>
          <p:cNvSpPr/>
          <p:nvPr/>
        </p:nvSpPr>
        <p:spPr>
          <a:xfrm>
            <a:off x="5943600" y="4762500"/>
            <a:ext cx="5715000" cy="476250"/>
          </a:xfrm>
          <a:prstGeom prst="rect">
            <a:avLst/>
          </a:prstGeom>
          <a:solidFill>
            <a:srgbClr val="0A0A0D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0" y="4943475"/>
            <a:ext cx="43719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CFCCC4"/>
                </a:solidFill>
                <a:latin typeface="Manrope SemiBold"/>
              </a:rPr>
              <a:t>Полотно под акцию: каркас остаётся, печатаем только новую графику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" y="5334000"/>
            <a:ext cx="1838325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400" y="5334000"/>
            <a:ext cx="183832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Баннеры — от 900 ₽/м²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86025" y="5334000"/>
            <a:ext cx="2028825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6025" y="5334000"/>
            <a:ext cx="202882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Брус-баннер — от 16 500 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29150" y="5334000"/>
            <a:ext cx="2876550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9150" y="5334000"/>
            <a:ext cx="287655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Монтаж и замена полотна — за 24 часа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524625"/>
            <a:ext cx="311612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8200" y="6581775"/>
            <a:ext cx="3190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707078"/>
                </a:solidFill>
                <a:latin typeface="Manrope SemiBold"/>
              </a:rPr>
              <a:t>SM-PRODUCTION · БРЕНДИНГ ДЛЯ АВТОСАЛОНОВ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58550" y="6581775"/>
            <a:ext cx="4000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0" sz="937">
                <a:solidFill>
                  <a:srgbClr val="FF4D1C"/>
                </a:solidFill>
                <a:latin typeface="Manrope Extra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61975"/>
            <a:ext cx="323850" cy="30480"/>
          </a:xfrm>
          <a:prstGeom prst="rect">
            <a:avLst/>
          </a:prstGeom>
          <a:solidFill>
            <a:srgbClr val="FF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1550" y="409575"/>
            <a:ext cx="220027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Manrope"/>
              </a:rPr>
              <a:t>РАБОТЫ В АВТОСАЛОНАХ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744093"/>
            <a:ext cx="4657725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150">
                <a:solidFill>
                  <a:srgbClr val="F4F2EC"/>
                </a:solidFill>
                <a:latin typeface="Unbounded ExtraBold"/>
              </a:rPr>
              <a:t>Брус-баннеры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91025" y="744093"/>
            <a:ext cx="5362575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150">
                <a:solidFill>
                  <a:srgbClr val="FF4D1C"/>
                </a:solidFill>
                <a:latin typeface="Unbounded ExtraBold"/>
              </a:rPr>
              <a:t>у наших дилеров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409700"/>
            <a:ext cx="8277225" cy="243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>
                <a:solidFill>
                  <a:srgbClr val="98989F"/>
                </a:solidFill>
                <a:latin typeface="Manrope SemiBold"/>
              </a:rPr>
              <a:t>Скрытый деревянный каркас, полотно без складок и бликов — даже под вспышкой и со стороны витрины.</a:t>
            </a:r>
          </a:p>
        </p:txBody>
      </p:sp>
      <p:pic>
        <p:nvPicPr>
          <p:cNvPr id="7" name="Picture 6" descr="pptx_2226400904558831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019300"/>
            <a:ext cx="3581400" cy="1752600"/>
          </a:xfrm>
          <a:prstGeom prst="roundRect">
            <a:avLst>
              <a:gd name="adj" fmla="val 7608"/>
            </a:avLst>
          </a:prstGeom>
        </p:spPr>
      </p:pic>
      <p:sp>
        <p:nvSpPr>
          <p:cNvPr id="8" name="Rounded Rectangle 7"/>
          <p:cNvSpPr/>
          <p:nvPr/>
        </p:nvSpPr>
        <p:spPr>
          <a:xfrm>
            <a:off x="647700" y="3371850"/>
            <a:ext cx="962025" cy="285750"/>
          </a:xfrm>
          <a:prstGeom prst="roundRect">
            <a:avLst>
              <a:gd name="adj" fmla="val 50000"/>
            </a:avLst>
          </a:prstGeom>
          <a:solidFill>
            <a:srgbClr val="0A0A0D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050" y="3333750"/>
            <a:ext cx="942975" cy="198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975">
                <a:solidFill>
                  <a:srgbClr val="D8FF3E"/>
                </a:solidFill>
                <a:latin typeface="Manrope"/>
              </a:rPr>
              <a:t>OMODA C5</a:t>
            </a:r>
          </a:p>
        </p:txBody>
      </p:sp>
      <p:pic>
        <p:nvPicPr>
          <p:cNvPr id="10" name="Picture 9" descr="pptx_724892737853078787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2019300"/>
            <a:ext cx="3581400" cy="1752600"/>
          </a:xfrm>
          <a:prstGeom prst="roundRect">
            <a:avLst>
              <a:gd name="adj" fmla="val 7608"/>
            </a:avLst>
          </a:prstGeom>
        </p:spPr>
      </p:pic>
      <p:sp>
        <p:nvSpPr>
          <p:cNvPr id="11" name="Rounded Rectangle 10"/>
          <p:cNvSpPr/>
          <p:nvPr/>
        </p:nvSpPr>
        <p:spPr>
          <a:xfrm>
            <a:off x="4381500" y="3371850"/>
            <a:ext cx="847725" cy="285750"/>
          </a:xfrm>
          <a:prstGeom prst="roundRect">
            <a:avLst>
              <a:gd name="adj" fmla="val 50000"/>
            </a:avLst>
          </a:prstGeom>
          <a:solidFill>
            <a:srgbClr val="0A0A0D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4850" y="3333750"/>
            <a:ext cx="828675" cy="198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975">
                <a:solidFill>
                  <a:srgbClr val="D8FF3E"/>
                </a:solidFill>
                <a:latin typeface="Manrope"/>
              </a:rPr>
              <a:t>HAVAL F7</a:t>
            </a:r>
          </a:p>
        </p:txBody>
      </p:sp>
      <p:pic>
        <p:nvPicPr>
          <p:cNvPr id="13" name="Picture 12" descr="pptx_684925699851769633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019300"/>
            <a:ext cx="3581400" cy="1752600"/>
          </a:xfrm>
          <a:prstGeom prst="roundRect">
            <a:avLst>
              <a:gd name="adj" fmla="val 7608"/>
            </a:avLst>
          </a:prstGeom>
        </p:spPr>
      </p:pic>
      <p:sp>
        <p:nvSpPr>
          <p:cNvPr id="14" name="Rounded Rectangle 13"/>
          <p:cNvSpPr/>
          <p:nvPr/>
        </p:nvSpPr>
        <p:spPr>
          <a:xfrm>
            <a:off x="8115300" y="3371850"/>
            <a:ext cx="1323975" cy="285750"/>
          </a:xfrm>
          <a:prstGeom prst="roundRect">
            <a:avLst>
              <a:gd name="adj" fmla="val 50000"/>
            </a:avLst>
          </a:prstGeom>
          <a:solidFill>
            <a:srgbClr val="0A0A0D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8650" y="3333750"/>
            <a:ext cx="1304925" cy="198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975">
                <a:solidFill>
                  <a:srgbClr val="D8FF3E"/>
                </a:solidFill>
                <a:latin typeface="Manrope"/>
              </a:rPr>
              <a:t>KGM SsangYong</a:t>
            </a:r>
          </a:p>
        </p:txBody>
      </p:sp>
      <p:pic>
        <p:nvPicPr>
          <p:cNvPr id="16" name="Picture 15" descr="pptx_10208919817390829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924300"/>
            <a:ext cx="3581400" cy="1752600"/>
          </a:xfrm>
          <a:prstGeom prst="roundRect">
            <a:avLst>
              <a:gd name="adj" fmla="val 7608"/>
            </a:avLst>
          </a:prstGeom>
        </p:spPr>
      </p:pic>
      <p:sp>
        <p:nvSpPr>
          <p:cNvPr id="17" name="Rounded Rectangle 16"/>
          <p:cNvSpPr/>
          <p:nvPr/>
        </p:nvSpPr>
        <p:spPr>
          <a:xfrm>
            <a:off x="647700" y="5276850"/>
            <a:ext cx="1123950" cy="285750"/>
          </a:xfrm>
          <a:prstGeom prst="roundRect">
            <a:avLst>
              <a:gd name="adj" fmla="val 50000"/>
            </a:avLst>
          </a:prstGeom>
          <a:solidFill>
            <a:srgbClr val="0A0A0D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050" y="5238750"/>
            <a:ext cx="1104900" cy="198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975">
                <a:solidFill>
                  <a:srgbClr val="D8FF3E"/>
                </a:solidFill>
                <a:latin typeface="Manrope"/>
              </a:rPr>
              <a:t>HONGQI HQ9</a:t>
            </a:r>
          </a:p>
        </p:txBody>
      </p:sp>
      <p:pic>
        <p:nvPicPr>
          <p:cNvPr id="19" name="Picture 18" descr="pptx_106430465664538297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3924300"/>
            <a:ext cx="3581400" cy="1752600"/>
          </a:xfrm>
          <a:prstGeom prst="roundRect">
            <a:avLst>
              <a:gd name="adj" fmla="val 7608"/>
            </a:avLst>
          </a:prstGeom>
        </p:spPr>
      </p:pic>
      <p:sp>
        <p:nvSpPr>
          <p:cNvPr id="20" name="Rounded Rectangle 19"/>
          <p:cNvSpPr/>
          <p:nvPr/>
        </p:nvSpPr>
        <p:spPr>
          <a:xfrm>
            <a:off x="4381500" y="5276850"/>
            <a:ext cx="914400" cy="285750"/>
          </a:xfrm>
          <a:prstGeom prst="roundRect">
            <a:avLst>
              <a:gd name="adj" fmla="val 50000"/>
            </a:avLst>
          </a:prstGeom>
          <a:solidFill>
            <a:srgbClr val="0A0A0D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4850" y="5238750"/>
            <a:ext cx="895350" cy="198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975">
                <a:solidFill>
                  <a:srgbClr val="D8FF3E"/>
                </a:solidFill>
                <a:latin typeface="Manrope"/>
              </a:rPr>
              <a:t>TENET T4</a:t>
            </a:r>
          </a:p>
        </p:txBody>
      </p:sp>
      <p:pic>
        <p:nvPicPr>
          <p:cNvPr id="22" name="Picture 21" descr="pptx_251077349487333207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3924300"/>
            <a:ext cx="3581400" cy="1752600"/>
          </a:xfrm>
          <a:prstGeom prst="roundRect">
            <a:avLst>
              <a:gd name="adj" fmla="val 7608"/>
            </a:avLst>
          </a:prstGeom>
        </p:spPr>
      </p:pic>
      <p:sp>
        <p:nvSpPr>
          <p:cNvPr id="23" name="Rounded Rectangle 22"/>
          <p:cNvSpPr/>
          <p:nvPr/>
        </p:nvSpPr>
        <p:spPr>
          <a:xfrm>
            <a:off x="8115300" y="5276850"/>
            <a:ext cx="1628775" cy="285750"/>
          </a:xfrm>
          <a:prstGeom prst="roundRect">
            <a:avLst>
              <a:gd name="adj" fmla="val 50000"/>
            </a:avLst>
          </a:prstGeom>
          <a:solidFill>
            <a:srgbClr val="0A0A0D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8650" y="5238750"/>
            <a:ext cx="1609725" cy="198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975">
                <a:solidFill>
                  <a:srgbClr val="D8FF3E"/>
                </a:solidFill>
                <a:latin typeface="Manrope"/>
              </a:rPr>
              <a:t>БАЛТАВТОТРЕЙД-М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5838825"/>
            <a:ext cx="9105900" cy="205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012">
                <a:solidFill>
                  <a:srgbClr val="98989F"/>
                </a:solidFill>
                <a:latin typeface="Manrope SemiBold"/>
              </a:rPr>
              <a:t>Форматы: отдельно стоящие конструкции, зоны выдачи, фотозоны с автомобилем, оформление тест-драйва и сезонных акций.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6524625"/>
            <a:ext cx="311612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8200" y="6581775"/>
            <a:ext cx="3190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707078"/>
                </a:solidFill>
                <a:latin typeface="Manrope SemiBold"/>
              </a:rPr>
              <a:t>SM-PRODUCTION · БРЕНДИНГ ДЛЯ АВТОСАЛОНОВ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58550" y="6581775"/>
            <a:ext cx="4000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0" sz="937">
                <a:solidFill>
                  <a:srgbClr val="FF4D1C"/>
                </a:solidFill>
                <a:latin typeface="Manrope Extra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ptx_67748102807173780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3048000"/>
            <a:ext cx="685800" cy="342900"/>
          </a:xfrm>
          <a:prstGeom prst="roundRect">
            <a:avLst>
              <a:gd name="adj" fmla="val 50000"/>
            </a:avLst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04800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1050">
                <a:solidFill>
                  <a:srgbClr val="0A0A0D"/>
                </a:solidFill>
                <a:latin typeface="Manrope"/>
              </a:rPr>
              <a:t>Кейс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3048000"/>
            <a:ext cx="2114550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3500" y="3048000"/>
            <a:ext cx="211455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1050">
                <a:solidFill>
                  <a:srgbClr val="F4F2EC"/>
                </a:solidFill>
                <a:latin typeface="Manrope"/>
              </a:rPr>
              <a:t>Дилерская конференция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2350" y="3048000"/>
            <a:ext cx="685800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2350" y="304800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1050">
                <a:solidFill>
                  <a:srgbClr val="F4F2EC"/>
                </a:solidFill>
                <a:latin typeface="Manrope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593591"/>
            <a:ext cx="702945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600">
                <a:solidFill>
                  <a:srgbClr val="F4F2EC"/>
                </a:solidFill>
                <a:latin typeface="Unbounded ExtraBold"/>
              </a:rPr>
              <a:t>Mitsubishi Motors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105655"/>
            <a:ext cx="856297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600">
                <a:solidFill>
                  <a:srgbClr val="FF4D1C"/>
                </a:solidFill>
                <a:latin typeface="Unbounded ExtraBold"/>
              </a:rPr>
              <a:t>дилерская конференция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4838700"/>
            <a:ext cx="817245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0" sz="1500">
                <a:solidFill>
                  <a:srgbClr val="D9D6CD"/>
                </a:solidFill>
                <a:latin typeface="Manrope"/>
              </a:rPr>
              <a:t>Комплексное оформление конференции для постоянных партнёров в DoubleTree by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0" sz="1500">
                <a:solidFill>
                  <a:srgbClr val="D9D6CD"/>
                </a:solidFill>
                <a:latin typeface="Manrope"/>
              </a:rPr>
              <a:t>Hilton Moscow — Vnukovo Airport: сцена под ключ, зона приветствия и пресс-зона.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400" y="5943600"/>
            <a:ext cx="1914525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400" y="5943600"/>
            <a:ext cx="191452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Каше для экрана 8×4,5 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2225" y="5943600"/>
            <a:ext cx="2390775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2225" y="5943600"/>
            <a:ext cx="239077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Сцена: ковролин, раус, трибуна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7300" y="594360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7300" y="5943600"/>
            <a:ext cx="16764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Стойка регистрации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5943600"/>
            <a:ext cx="1019175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5943600"/>
            <a:ext cx="101917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Press-wall</a:t>
            </a:r>
          </a:p>
        </p:txBody>
      </p:sp>
      <p:pic>
        <p:nvPicPr>
          <p:cNvPr id="20" name="Picture 19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524625"/>
            <a:ext cx="311612" cy="1809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8200" y="6581775"/>
            <a:ext cx="3190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707078"/>
                </a:solidFill>
                <a:latin typeface="Manrope SemiBold"/>
              </a:rPr>
              <a:t>SM-PRODUCTION · БРЕНДИНГ ДЛЯ АВТОСАЛОНОВ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87125" y="6581775"/>
            <a:ext cx="3714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0" sz="937">
                <a:solidFill>
                  <a:srgbClr val="FF4D1C"/>
                </a:solidFill>
                <a:latin typeface="Manrope Extra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61975"/>
            <a:ext cx="323850" cy="30480"/>
          </a:xfrm>
          <a:prstGeom prst="rect">
            <a:avLst/>
          </a:prstGeom>
          <a:solidFill>
            <a:srgbClr val="FF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1550" y="409575"/>
            <a:ext cx="12573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Manrope"/>
              </a:rPr>
              <a:t>ПОРТФОЛИО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741426"/>
            <a:ext cx="5248275" cy="67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300">
                <a:solidFill>
                  <a:srgbClr val="F4F2EC"/>
                </a:solidFill>
                <a:latin typeface="Unbounded ExtraBold"/>
              </a:rPr>
              <a:t>Сроки, которые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43475" y="741426"/>
            <a:ext cx="7029450" cy="67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300">
                <a:solidFill>
                  <a:srgbClr val="FF4D1C"/>
                </a:solidFill>
                <a:latin typeface="Unbounded ExtraBold"/>
              </a:rPr>
              <a:t>мы уже выдерживали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962150"/>
            <a:ext cx="3581400" cy="4038600"/>
          </a:xfrm>
          <a:prstGeom prst="roundRect">
            <a:avLst>
              <a:gd name="adj" fmla="val 4787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x_8937633466618357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62150"/>
            <a:ext cx="3581400" cy="1866900"/>
          </a:xfrm>
          <a:prstGeom prst="roundRect">
            <a:avLst>
              <a:gd name="adj" fmla="val 9183"/>
            </a:avLst>
          </a:prstGeom>
        </p:spPr>
      </p:pic>
      <p:sp>
        <p:nvSpPr>
          <p:cNvPr id="8" name="Rectangle 7"/>
          <p:cNvSpPr/>
          <p:nvPr/>
        </p:nvSpPr>
        <p:spPr>
          <a:xfrm>
            <a:off x="533400" y="3486150"/>
            <a:ext cx="3581400" cy="342900"/>
          </a:xfrm>
          <a:prstGeom prst="rect">
            <a:avLst/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3900" y="3962400"/>
            <a:ext cx="1085850" cy="285750"/>
          </a:xfrm>
          <a:prstGeom prst="roundRect">
            <a:avLst>
              <a:gd name="adj" fmla="val 50000"/>
            </a:avLst>
          </a:prstGeom>
          <a:solidFill>
            <a:srgbClr val="14141C"/>
          </a:solidFill>
          <a:ln w="12700">
            <a:solidFill>
              <a:srgbClr val="FF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3962400"/>
            <a:ext cx="1085850" cy="285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F4D1C"/>
                </a:solidFill>
                <a:latin typeface="Manrope"/>
              </a:rPr>
              <a:t>MIKS Karting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419600"/>
            <a:ext cx="3429000" cy="2514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37">
                <a:solidFill>
                  <a:srgbClr val="F4F2EC"/>
                </a:solidFill>
                <a:latin typeface="Unbounded ExtraBold"/>
              </a:rPr>
              <a:t>Гоночное оформление клуба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724400"/>
            <a:ext cx="3276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Угловая фотозона с подсветкой, пресс-волл</a:t>
            </a:r>
          </a:p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для награждения, виндеры по трассе, неон</a:t>
            </a:r>
          </a:p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моста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1962150"/>
            <a:ext cx="3581400" cy="4038600"/>
          </a:xfrm>
          <a:prstGeom prst="roundRect">
            <a:avLst>
              <a:gd name="adj" fmla="val 4787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ptx_46984248326012963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962150"/>
            <a:ext cx="3581400" cy="1866900"/>
          </a:xfrm>
          <a:prstGeom prst="roundRect">
            <a:avLst>
              <a:gd name="adj" fmla="val 9183"/>
            </a:avLst>
          </a:prstGeom>
        </p:spPr>
      </p:pic>
      <p:sp>
        <p:nvSpPr>
          <p:cNvPr id="15" name="Rectangle 14"/>
          <p:cNvSpPr/>
          <p:nvPr/>
        </p:nvSpPr>
        <p:spPr>
          <a:xfrm>
            <a:off x="4267200" y="3486150"/>
            <a:ext cx="3581400" cy="342900"/>
          </a:xfrm>
          <a:prstGeom prst="rect">
            <a:avLst/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57700" y="3962400"/>
            <a:ext cx="1419225" cy="285750"/>
          </a:xfrm>
          <a:prstGeom prst="roundRect">
            <a:avLst>
              <a:gd name="adj" fmla="val 50000"/>
            </a:avLst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7700" y="3962400"/>
            <a:ext cx="1419225" cy="285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0A0A0D"/>
                </a:solidFill>
                <a:latin typeface="Manrope"/>
              </a:rPr>
              <a:t>РЖД Арена · 3 дня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7700" y="4410075"/>
            <a:ext cx="2409825" cy="259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75">
                <a:solidFill>
                  <a:srgbClr val="F4F2EC"/>
                </a:solidFill>
                <a:latin typeface="Unbounded ExtraBold"/>
              </a:rPr>
              <a:t>Конструкция 5×3 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700" y="4724400"/>
            <a:ext cx="3276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Разработали, изготовили и установили</a:t>
            </a:r>
          </a:p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мультимедийную конструкцию за 3 дня — с</a:t>
            </a:r>
          </a:p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ночным монтажом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962150"/>
            <a:ext cx="3581400" cy="4038600"/>
          </a:xfrm>
          <a:prstGeom prst="roundRect">
            <a:avLst>
              <a:gd name="adj" fmla="val 4787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ptx_782548212749056831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962150"/>
            <a:ext cx="3581400" cy="1866900"/>
          </a:xfrm>
          <a:prstGeom prst="roundRect">
            <a:avLst>
              <a:gd name="adj" fmla="val 9183"/>
            </a:avLst>
          </a:prstGeom>
        </p:spPr>
      </p:pic>
      <p:sp>
        <p:nvSpPr>
          <p:cNvPr id="22" name="Rectangle 21"/>
          <p:cNvSpPr/>
          <p:nvPr/>
        </p:nvSpPr>
        <p:spPr>
          <a:xfrm>
            <a:off x="8001000" y="3486150"/>
            <a:ext cx="3581400" cy="342900"/>
          </a:xfrm>
          <a:prstGeom prst="rect">
            <a:avLst/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91500" y="3962400"/>
            <a:ext cx="1028700" cy="285750"/>
          </a:xfrm>
          <a:prstGeom prst="roundRect">
            <a:avLst>
              <a:gd name="adj" fmla="val 50000"/>
            </a:avLst>
          </a:prstGeom>
          <a:solidFill>
            <a:srgbClr val="14141C"/>
          </a:solidFill>
          <a:ln w="12700">
            <a:solidFill>
              <a:srgbClr val="FF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1500" y="3962400"/>
            <a:ext cx="1028700" cy="285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F4D1C"/>
                </a:solidFill>
                <a:latin typeface="Manrope"/>
              </a:rPr>
              <a:t>Burger 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0" y="4410075"/>
            <a:ext cx="3381375" cy="259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75">
                <a:solidFill>
                  <a:srgbClr val="F4F2EC"/>
                </a:solidFill>
                <a:latin typeface="Unbounded ExtraBold"/>
              </a:rPr>
              <a:t>Оформление конференции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0" y="4724400"/>
            <a:ext cx="3276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Застройка мероприятия, фотозоны,</a:t>
            </a:r>
          </a:p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оформление пространства — полный цикл от</a:t>
            </a:r>
          </a:p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концепции до монтажа</a:t>
            </a:r>
          </a:p>
        </p:txBody>
      </p:sp>
      <p:pic>
        <p:nvPicPr>
          <p:cNvPr id="27" name="Picture 26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524625"/>
            <a:ext cx="311612" cy="1809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8200" y="6581775"/>
            <a:ext cx="3190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707078"/>
                </a:solidFill>
                <a:latin typeface="Manrope SemiBold"/>
              </a:rPr>
              <a:t>SM-PRODUCTION · БРЕНДИНГ ДЛЯ АВТОСАЛОНОВ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25225" y="6581775"/>
            <a:ext cx="3333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0" sz="937">
                <a:solidFill>
                  <a:srgbClr val="FF4D1C"/>
                </a:solidFill>
                <a:latin typeface="Manrope Extra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61975"/>
            <a:ext cx="323850" cy="30480"/>
          </a:xfrm>
          <a:prstGeom prst="rect">
            <a:avLst/>
          </a:prstGeom>
          <a:solidFill>
            <a:srgbClr val="FF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1550" y="409575"/>
            <a:ext cx="153352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Manrope"/>
              </a:rPr>
              <a:t>ПРЕИМУЩЕСТВА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741426"/>
            <a:ext cx="6572250" cy="67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300">
                <a:solidFill>
                  <a:srgbClr val="F4F2EC"/>
                </a:solidFill>
                <a:latin typeface="Unbounded ExtraBold"/>
              </a:rPr>
              <a:t>Почему автосалоны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7450" y="741426"/>
            <a:ext cx="5581650" cy="67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300">
                <a:solidFill>
                  <a:srgbClr val="FF4D1C"/>
                </a:solidFill>
                <a:latin typeface="Unbounded ExtraBold"/>
              </a:rPr>
              <a:t>работают с нами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905000"/>
            <a:ext cx="3600450" cy="1295400"/>
          </a:xfrm>
          <a:prstGeom prst="roundRect">
            <a:avLst>
              <a:gd name="adj" fmla="val 13235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057400"/>
            <a:ext cx="79057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FF4D1C"/>
                </a:solidFill>
                <a:latin typeface="Unbounded Extra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2486025"/>
            <a:ext cx="30670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125">
                <a:solidFill>
                  <a:srgbClr val="F4F2EC"/>
                </a:solidFill>
                <a:latin typeface="Unbounded ExtraBold"/>
              </a:rPr>
              <a:t>Собственное производство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743200"/>
            <a:ext cx="3257550" cy="4905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Центральное производство в Москве,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Остаповский проезд — без наценок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6250" y="1905000"/>
            <a:ext cx="3600450" cy="1295400"/>
          </a:xfrm>
          <a:prstGeom prst="roundRect">
            <a:avLst>
              <a:gd name="adj" fmla="val 13235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5800" y="2057400"/>
            <a:ext cx="85725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FF4D1C"/>
                </a:solidFill>
                <a:latin typeface="Unbounded Extra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0" y="2486025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125">
                <a:solidFill>
                  <a:srgbClr val="F4F2EC"/>
                </a:solidFill>
                <a:latin typeface="Unbounded ExtraBold"/>
              </a:rPr>
              <a:t>Сроки в договоре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2743200"/>
            <a:ext cx="3257550" cy="4905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Баннеры от 12 часов, конструкции от 3 дней,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события — за 24 часа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9100" y="1905000"/>
            <a:ext cx="3600450" cy="1295400"/>
          </a:xfrm>
          <a:prstGeom prst="roundRect">
            <a:avLst>
              <a:gd name="adj" fmla="val 13235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8650" y="2057400"/>
            <a:ext cx="86677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FF4D1C"/>
                </a:solidFill>
                <a:latin typeface="Unbounded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8650" y="2486025"/>
            <a:ext cx="240982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125">
                <a:solidFill>
                  <a:srgbClr val="F4F2EC"/>
                </a:solidFill>
                <a:latin typeface="Unbounded ExtraBold"/>
              </a:rPr>
              <a:t>Работа по брендбуку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8650" y="2743200"/>
            <a:ext cx="3257550" cy="4905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Проверка вылетов, разрешения и пантонов —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бесплатно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3352800"/>
            <a:ext cx="3600450" cy="1295400"/>
          </a:xfrm>
          <a:prstGeom prst="roundRect">
            <a:avLst>
              <a:gd name="adj" fmla="val 13235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3505200"/>
            <a:ext cx="86677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FF4D1C"/>
                </a:solidFill>
                <a:latin typeface="Unbounded Extra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3933825"/>
            <a:ext cx="290512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125">
                <a:solidFill>
                  <a:srgbClr val="F4F2EC"/>
                </a:solidFill>
                <a:latin typeface="Unbounded ExtraBold"/>
              </a:rPr>
              <a:t>Фикс-цена без сюрпризов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4191000"/>
            <a:ext cx="3257550" cy="3095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Стоимость в КП не меняется по ходу работ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6250" y="3352800"/>
            <a:ext cx="3600450" cy="1295400"/>
          </a:xfrm>
          <a:prstGeom prst="roundRect">
            <a:avLst>
              <a:gd name="adj" fmla="val 13235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5800" y="3505200"/>
            <a:ext cx="84772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FF4D1C"/>
                </a:solidFill>
                <a:latin typeface="Unbounded ExtraBol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800" y="3933825"/>
            <a:ext cx="2590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125">
                <a:solidFill>
                  <a:srgbClr val="F4F2EC"/>
                </a:solidFill>
                <a:latin typeface="Unbounded ExtraBold"/>
              </a:rPr>
              <a:t>Монтаж без остановки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5800" y="4191000"/>
            <a:ext cx="3257550" cy="4905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Ночью и в выходные — салон продолжает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продавать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9100" y="3352800"/>
            <a:ext cx="3600450" cy="1295400"/>
          </a:xfrm>
          <a:prstGeom prst="roundRect">
            <a:avLst>
              <a:gd name="adj" fmla="val 13235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8650" y="3505200"/>
            <a:ext cx="86677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FF4D1C"/>
                </a:solidFill>
                <a:latin typeface="Unbounded ExtraBold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8650" y="3933825"/>
            <a:ext cx="23431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125">
                <a:solidFill>
                  <a:srgbClr val="F4F2EC"/>
                </a:solidFill>
                <a:latin typeface="Unbounded ExtraBold"/>
              </a:rPr>
              <a:t>Один договор на всё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8650" y="4191000"/>
            <a:ext cx="3257550" cy="4905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Проект, производство и монтаж — в одних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руках, без субподряда</a:t>
            </a:r>
          </a:p>
        </p:txBody>
      </p:sp>
      <p:pic>
        <p:nvPicPr>
          <p:cNvPr id="30" name="Picture 29" descr="pptx_60405513829520546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876800"/>
            <a:ext cx="4953000" cy="1390650"/>
          </a:xfrm>
          <a:prstGeom prst="roundRect">
            <a:avLst>
              <a:gd name="adj" fmla="val 10958"/>
            </a:avLst>
          </a:prstGeom>
        </p:spPr>
      </p:pic>
      <p:sp>
        <p:nvSpPr>
          <p:cNvPr id="31" name="Rectangle 30"/>
          <p:cNvSpPr/>
          <p:nvPr/>
        </p:nvSpPr>
        <p:spPr>
          <a:xfrm>
            <a:off x="533400" y="5943600"/>
            <a:ext cx="4953000" cy="323850"/>
          </a:xfrm>
          <a:prstGeom prst="rect">
            <a:avLst/>
          </a:prstGeom>
          <a:solidFill>
            <a:srgbClr val="0A0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750" y="5934075"/>
            <a:ext cx="32194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CFCCC4"/>
                </a:solidFill>
                <a:latin typeface="Manrope SemiBold"/>
              </a:rPr>
              <a:t>Скрытый каркас: полотно с торца идеально ровное</a:t>
            </a:r>
          </a:p>
        </p:txBody>
      </p:sp>
      <p:pic>
        <p:nvPicPr>
          <p:cNvPr id="33" name="Picture 32" descr="pptx_13630204182506031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4876800"/>
            <a:ext cx="3390900" cy="1390650"/>
          </a:xfrm>
          <a:prstGeom prst="roundRect">
            <a:avLst>
              <a:gd name="adj" fmla="val 10958"/>
            </a:avLst>
          </a:prstGeom>
        </p:spPr>
      </p:pic>
      <p:sp>
        <p:nvSpPr>
          <p:cNvPr id="34" name="Rectangle 33"/>
          <p:cNvSpPr/>
          <p:nvPr/>
        </p:nvSpPr>
        <p:spPr>
          <a:xfrm>
            <a:off x="5638800" y="5943600"/>
            <a:ext cx="3390900" cy="323850"/>
          </a:xfrm>
          <a:prstGeom prst="rect">
            <a:avLst/>
          </a:prstGeom>
          <a:solidFill>
            <a:srgbClr val="0A0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72150" y="5934075"/>
            <a:ext cx="26384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CFCCC4"/>
                </a:solidFill>
                <a:latin typeface="Manrope SemiBold"/>
              </a:rPr>
              <a:t>Брус-баннеры у дилеров KGM SsangYong</a:t>
            </a:r>
          </a:p>
        </p:txBody>
      </p:sp>
      <p:pic>
        <p:nvPicPr>
          <p:cNvPr id="36" name="Picture 35" descr="pptx_68898830015422147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100" y="4876800"/>
            <a:ext cx="3390900" cy="1390650"/>
          </a:xfrm>
          <a:prstGeom prst="roundRect">
            <a:avLst>
              <a:gd name="adj" fmla="val 10958"/>
            </a:avLst>
          </a:prstGeom>
        </p:spPr>
      </p:pic>
      <p:sp>
        <p:nvSpPr>
          <p:cNvPr id="37" name="Rectangle 36"/>
          <p:cNvSpPr/>
          <p:nvPr/>
        </p:nvSpPr>
        <p:spPr>
          <a:xfrm>
            <a:off x="9182100" y="5943600"/>
            <a:ext cx="3390900" cy="323850"/>
          </a:xfrm>
          <a:prstGeom prst="rect">
            <a:avLst/>
          </a:prstGeom>
          <a:solidFill>
            <a:srgbClr val="0A0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5450" y="5934075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CFCCC4"/>
                </a:solidFill>
                <a:latin typeface="Manrope SemiBold"/>
              </a:rPr>
              <a:t>Смена полотна под акцию — каркас остаётся</a:t>
            </a:r>
          </a:p>
        </p:txBody>
      </p:sp>
      <p:pic>
        <p:nvPicPr>
          <p:cNvPr id="39" name="Picture 38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524625"/>
            <a:ext cx="311612" cy="1809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8200" y="6581775"/>
            <a:ext cx="3190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707078"/>
                </a:solidFill>
                <a:latin typeface="Manrope SemiBold"/>
              </a:rPr>
              <a:t>SM-PRODUCTION · БРЕНДИНГ ДЛЯ АВТОСАЛОНОВ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6650" y="6581775"/>
            <a:ext cx="3619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0" sz="937">
                <a:solidFill>
                  <a:srgbClr val="FF4D1C"/>
                </a:solidFill>
                <a:latin typeface="Manrope Extra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61975"/>
            <a:ext cx="323850" cy="30480"/>
          </a:xfrm>
          <a:prstGeom prst="rect">
            <a:avLst/>
          </a:prstGeom>
          <a:solidFill>
            <a:srgbClr val="FF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1550" y="409575"/>
            <a:ext cx="10287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Manrope"/>
              </a:rPr>
              <a:t>ПРОЦЕСС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741426"/>
            <a:ext cx="7477125" cy="67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300">
                <a:solidFill>
                  <a:srgbClr val="F4F2EC"/>
                </a:solidFill>
                <a:latin typeface="Unbounded ExtraBold"/>
              </a:rPr>
              <a:t>Как проходит работа —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72325" y="741426"/>
            <a:ext cx="3057525" cy="67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300">
                <a:solidFill>
                  <a:srgbClr val="FF4D1C"/>
                </a:solidFill>
                <a:latin typeface="Unbounded ExtraBold"/>
              </a:rPr>
              <a:t>6 шагов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962150"/>
            <a:ext cx="2419350" cy="1295400"/>
          </a:xfrm>
          <a:prstGeom prst="roundRect">
            <a:avLst>
              <a:gd name="adj" fmla="val 13235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2133600"/>
            <a:ext cx="58102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FF4D1C"/>
                </a:solidFill>
                <a:latin typeface="Unbounded Extra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457450"/>
            <a:ext cx="2114550" cy="495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F4F2EC"/>
                </a:solidFill>
                <a:latin typeface="Unbounded ExtraBold"/>
              </a:rPr>
              <a:t>Заявка и бесплатный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F4F2EC"/>
                </a:solidFill>
                <a:latin typeface="Unbounded ExtraBold"/>
              </a:rPr>
              <a:t>замер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895600"/>
            <a:ext cx="211455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0" sz="975">
                <a:solidFill>
                  <a:srgbClr val="98989F"/>
                </a:solidFill>
                <a:latin typeface="Manrope SemiBold"/>
              </a:rPr>
              <a:t>Приезжаем, снимаем размеры,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0" sz="975">
                <a:solidFill>
                  <a:srgbClr val="98989F"/>
                </a:solidFill>
                <a:latin typeface="Manrope SemiBold"/>
              </a:rPr>
              <a:t>обсуждаем задачу и бюджет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6100" y="1962150"/>
            <a:ext cx="2419350" cy="1295400"/>
          </a:xfrm>
          <a:prstGeom prst="roundRect">
            <a:avLst>
              <a:gd name="adj" fmla="val 13235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6600" y="2133600"/>
            <a:ext cx="6477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FF4D1C"/>
                </a:solidFill>
                <a:latin typeface="Unbounded Extra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600" y="2457450"/>
            <a:ext cx="2114550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F4F2EC"/>
                </a:solidFill>
                <a:latin typeface="Unbounded ExtraBold"/>
              </a:rPr>
              <a:t>Концепция и 3D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600" y="2895600"/>
            <a:ext cx="2114550" cy="638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0" sz="975">
                <a:solidFill>
                  <a:srgbClr val="98989F"/>
                </a:solidFill>
                <a:latin typeface="Manrope SemiBold"/>
              </a:rPr>
              <a:t>Видите результат до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0" sz="975">
                <a:solidFill>
                  <a:srgbClr val="98989F"/>
                </a:solidFill>
                <a:latin typeface="Manrope SemiBold"/>
              </a:rPr>
              <a:t>производства, согласовываем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0" sz="975">
                <a:solidFill>
                  <a:srgbClr val="98989F"/>
                </a:solidFill>
                <a:latin typeface="Manrope SemiBold"/>
              </a:rPr>
              <a:t>детали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38800" y="1962150"/>
            <a:ext cx="2419350" cy="1295400"/>
          </a:xfrm>
          <a:prstGeom prst="roundRect">
            <a:avLst>
              <a:gd name="adj" fmla="val 13235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9300" y="2133600"/>
            <a:ext cx="65722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FF4D1C"/>
                </a:solidFill>
                <a:latin typeface="Unbounded Extra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9300" y="2457450"/>
            <a:ext cx="2114550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F4F2EC"/>
                </a:solidFill>
                <a:latin typeface="Unbounded ExtraBold"/>
              </a:rPr>
              <a:t>Смета и договор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9300" y="2895600"/>
            <a:ext cx="211455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0" sz="975">
                <a:solidFill>
                  <a:srgbClr val="98989F"/>
                </a:solidFill>
                <a:latin typeface="Manrope SemiBold"/>
              </a:rPr>
              <a:t>Прозрачная стоимость, сроки и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0" sz="975">
                <a:solidFill>
                  <a:srgbClr val="98989F"/>
                </a:solidFill>
                <a:latin typeface="Manrope SemiBold"/>
              </a:rPr>
              <a:t>гарантии зафиксированы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3409950"/>
            <a:ext cx="2419350" cy="1295400"/>
          </a:xfrm>
          <a:prstGeom prst="roundRect">
            <a:avLst>
              <a:gd name="adj" fmla="val 13235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900" y="3581400"/>
            <a:ext cx="65722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FF4D1C"/>
                </a:solidFill>
                <a:latin typeface="Unbounded Extra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3905250"/>
            <a:ext cx="2114550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F4F2EC"/>
                </a:solidFill>
                <a:latin typeface="Unbounded ExtraBold"/>
              </a:rPr>
              <a:t>Производство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4343400"/>
            <a:ext cx="211455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0" sz="975">
                <a:solidFill>
                  <a:srgbClr val="98989F"/>
                </a:solidFill>
                <a:latin typeface="Manrope SemiBold"/>
              </a:rPr>
              <a:t>Свой цех + регулярные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0" sz="975">
                <a:solidFill>
                  <a:srgbClr val="98989F"/>
                </a:solidFill>
                <a:latin typeface="Manrope SemiBold"/>
              </a:rPr>
              <a:t>фотоотчёты о прогрессе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86100" y="3409950"/>
            <a:ext cx="2419350" cy="1295400"/>
          </a:xfrm>
          <a:prstGeom prst="roundRect">
            <a:avLst>
              <a:gd name="adj" fmla="val 13235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6600" y="3581400"/>
            <a:ext cx="63817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FF4D1C"/>
                </a:solidFill>
                <a:latin typeface="Unbounded ExtraBol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6600" y="3905250"/>
            <a:ext cx="2114550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F4F2EC"/>
                </a:solidFill>
                <a:latin typeface="Unbounded ExtraBold"/>
              </a:rPr>
              <a:t>Доставка и монтаж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6600" y="4343400"/>
            <a:ext cx="211455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0" sz="975">
                <a:solidFill>
                  <a:srgbClr val="98989F"/>
                </a:solidFill>
                <a:latin typeface="Manrope SemiBold"/>
              </a:rPr>
              <a:t>Ночью или в выходные, без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0" sz="975">
                <a:solidFill>
                  <a:srgbClr val="98989F"/>
                </a:solidFill>
                <a:latin typeface="Manrope SemiBold"/>
              </a:rPr>
              <a:t>остановки работы салона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38800" y="3409950"/>
            <a:ext cx="2419350" cy="1295400"/>
          </a:xfrm>
          <a:prstGeom prst="roundRect">
            <a:avLst>
              <a:gd name="adj" fmla="val 13235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9300" y="3581400"/>
            <a:ext cx="65722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FF4D1C"/>
                </a:solidFill>
                <a:latin typeface="Unbounded ExtraBold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9300" y="3905250"/>
            <a:ext cx="2114550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F4F2EC"/>
                </a:solidFill>
                <a:latin typeface="Unbounded ExtraBold"/>
              </a:rPr>
              <a:t>Сдача объекта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29300" y="4343400"/>
            <a:ext cx="211455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0" sz="975">
                <a:solidFill>
                  <a:srgbClr val="98989F"/>
                </a:solidFill>
                <a:latin typeface="Manrope SemiBold"/>
              </a:rPr>
              <a:t>Принимаем работу вместе и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b="0" sz="975">
                <a:solidFill>
                  <a:srgbClr val="98989F"/>
                </a:solidFill>
                <a:latin typeface="Manrope SemiBold"/>
              </a:rPr>
              <a:t>остаёмся на связи после сдачи</a:t>
            </a:r>
          </a:p>
        </p:txBody>
      </p:sp>
      <p:pic>
        <p:nvPicPr>
          <p:cNvPr id="30" name="Picture 29" descr="pptx_29870838551948794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50" y="1962150"/>
            <a:ext cx="3409950" cy="2743200"/>
          </a:xfrm>
          <a:prstGeom prst="roundRect">
            <a:avLst>
              <a:gd name="adj" fmla="val 5555"/>
            </a:avLst>
          </a:prstGeom>
        </p:spPr>
      </p:pic>
      <p:sp>
        <p:nvSpPr>
          <p:cNvPr id="31" name="Rectangle 30"/>
          <p:cNvSpPr/>
          <p:nvPr/>
        </p:nvSpPr>
        <p:spPr>
          <a:xfrm>
            <a:off x="8248650" y="4210050"/>
            <a:ext cx="3409950" cy="495300"/>
          </a:xfrm>
          <a:prstGeom prst="rect">
            <a:avLst/>
          </a:prstGeom>
          <a:solidFill>
            <a:srgbClr val="0A0A0D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2000" y="4448175"/>
            <a:ext cx="2981325" cy="1752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862">
                <a:solidFill>
                  <a:srgbClr val="CFCCC4"/>
                </a:solidFill>
                <a:latin typeface="Manrope SemiBold"/>
              </a:rPr>
              <a:t>Собственный цех: печать, фрезеровка, сборка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3400" y="5334000"/>
            <a:ext cx="1457325" cy="342900"/>
          </a:xfrm>
          <a:prstGeom prst="roundRect">
            <a:avLst>
              <a:gd name="adj" fmla="val 50000"/>
            </a:avLst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3400" y="5334000"/>
            <a:ext cx="145732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0A0A0D"/>
                </a:solidFill>
                <a:latin typeface="Manrope"/>
              </a:rPr>
              <a:t>КП в течение дня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05025" y="5334000"/>
            <a:ext cx="2771775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5025" y="5334000"/>
            <a:ext cx="277177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Замер в пределах МКАД — бесплатно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91100" y="5334000"/>
            <a:ext cx="2019300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91100" y="5334000"/>
            <a:ext cx="20193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Работаем по всей России</a:t>
            </a:r>
          </a:p>
        </p:txBody>
      </p:sp>
      <p:pic>
        <p:nvPicPr>
          <p:cNvPr id="39" name="Picture 38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524625"/>
            <a:ext cx="311612" cy="1809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8200" y="6581775"/>
            <a:ext cx="3190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707078"/>
                </a:solidFill>
                <a:latin typeface="Manrope SemiBold"/>
              </a:rPr>
              <a:t>SM-PRODUCTION · БРЕНДИНГ ДЛЯ АВТОСАЛОНОВ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6650" y="6581775"/>
            <a:ext cx="3619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0" sz="937">
                <a:solidFill>
                  <a:srgbClr val="FF4D1C"/>
                </a:solidFill>
                <a:latin typeface="Manrope Extra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61975"/>
            <a:ext cx="323850" cy="30480"/>
          </a:xfrm>
          <a:prstGeom prst="rect">
            <a:avLst/>
          </a:prstGeom>
          <a:solidFill>
            <a:srgbClr val="FF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1550" y="409575"/>
            <a:ext cx="252412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Manrope"/>
              </a:rPr>
              <a:t>ФОРМАТЫ СОТРУДНИЧЕСТВА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741426"/>
            <a:ext cx="5334000" cy="67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300">
                <a:solidFill>
                  <a:srgbClr val="F4F2EC"/>
                </a:solidFill>
                <a:latin typeface="Unbounded ExtraBold"/>
              </a:rPr>
              <a:t>Готовые пакеты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741426"/>
            <a:ext cx="5638800" cy="67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3300">
                <a:solidFill>
                  <a:srgbClr val="FF4D1C"/>
                </a:solidFill>
                <a:latin typeface="Unbounded ExtraBold"/>
              </a:rPr>
              <a:t>для автосалонов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905000"/>
            <a:ext cx="3581400" cy="3733800"/>
          </a:xfrm>
          <a:prstGeom prst="roundRect">
            <a:avLst>
              <a:gd name="adj" fmla="val 4787"/>
            </a:avLst>
          </a:prstGeom>
          <a:solidFill>
            <a:srgbClr val="14141C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x_23410718900571235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05000"/>
            <a:ext cx="3581400" cy="1409700"/>
          </a:xfrm>
          <a:prstGeom prst="roundRect">
            <a:avLst>
              <a:gd name="adj" fmla="val 12162"/>
            </a:avLst>
          </a:prstGeom>
        </p:spPr>
      </p:pic>
      <p:sp>
        <p:nvSpPr>
          <p:cNvPr id="8" name="Rectangle 7"/>
          <p:cNvSpPr/>
          <p:nvPr/>
        </p:nvSpPr>
        <p:spPr>
          <a:xfrm>
            <a:off x="533400" y="2971800"/>
            <a:ext cx="3581400" cy="342900"/>
          </a:xfrm>
          <a:prstGeom prst="rect">
            <a:avLst/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3900" y="3448050"/>
            <a:ext cx="771525" cy="285750"/>
          </a:xfrm>
          <a:prstGeom prst="roundRect">
            <a:avLst>
              <a:gd name="adj" fmla="val 50000"/>
            </a:avLst>
          </a:prstGeom>
          <a:solidFill>
            <a:srgbClr val="14141C"/>
          </a:solidFill>
          <a:ln w="12700">
            <a:solidFill>
              <a:srgbClr val="FF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3448050"/>
            <a:ext cx="771525" cy="285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F4D1C"/>
                </a:solidFill>
                <a:latin typeface="Manrope"/>
              </a:rPr>
              <a:t>Пакет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886200"/>
            <a:ext cx="3276600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b="0" sz="1350">
                <a:solidFill>
                  <a:srgbClr val="F4F2EC"/>
                </a:solidFill>
                <a:latin typeface="Unbounded ExtraBold"/>
              </a:rPr>
              <a:t>Бренд-зона ресепшн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267200"/>
            <a:ext cx="3276600" cy="4905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Стойка + объёмный логотип + навигация +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элементы на стены. 3D до производства.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772025"/>
            <a:ext cx="253365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75">
                <a:solidFill>
                  <a:srgbClr val="D8FF3E"/>
                </a:solidFill>
                <a:latin typeface="Unbounded ExtraBold"/>
              </a:rPr>
              <a:t>от 250 000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5124450"/>
            <a:ext cx="3276600" cy="2809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b="0" sz="937">
                <a:solidFill>
                  <a:srgbClr val="98989F"/>
                </a:solidFill>
                <a:latin typeface="Manrope SemiBold"/>
              </a:rPr>
              <a:t>от 7 дней · срочно от 3 дней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200" y="1905000"/>
            <a:ext cx="3581400" cy="3733800"/>
          </a:xfrm>
          <a:prstGeom prst="roundRect">
            <a:avLst>
              <a:gd name="adj" fmla="val 4787"/>
            </a:avLst>
          </a:prstGeom>
          <a:solidFill>
            <a:srgbClr val="14141C"/>
          </a:solidFill>
          <a:ln w="20320">
            <a:solidFill>
              <a:srgbClr val="FF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ptx_27740848390395082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905000"/>
            <a:ext cx="3581400" cy="1409700"/>
          </a:xfrm>
          <a:prstGeom prst="roundRect">
            <a:avLst>
              <a:gd name="adj" fmla="val 12162"/>
            </a:avLst>
          </a:prstGeom>
        </p:spPr>
      </p:pic>
      <p:sp>
        <p:nvSpPr>
          <p:cNvPr id="17" name="Rectangle 16"/>
          <p:cNvSpPr/>
          <p:nvPr/>
        </p:nvSpPr>
        <p:spPr>
          <a:xfrm>
            <a:off x="4267200" y="2971800"/>
            <a:ext cx="3581400" cy="342900"/>
          </a:xfrm>
          <a:prstGeom prst="rect">
            <a:avLst/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57700" y="3448050"/>
            <a:ext cx="1076325" cy="285750"/>
          </a:xfrm>
          <a:prstGeom prst="roundRect">
            <a:avLst>
              <a:gd name="adj" fmla="val 50000"/>
            </a:avLst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7700" y="3448050"/>
            <a:ext cx="1076325" cy="285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0A0A0D"/>
                </a:solidFill>
                <a:latin typeface="Manrope"/>
              </a:rPr>
              <a:t>Пакет B · хит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700" y="3886200"/>
            <a:ext cx="3276600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b="0" sz="1350">
                <a:solidFill>
                  <a:srgbClr val="F4F2EC"/>
                </a:solidFill>
                <a:latin typeface="Unbounded ExtraBold"/>
              </a:rPr>
              <a:t>Мероприятие в салоне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700" y="4267200"/>
            <a:ext cx="3276600" cy="4905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Сцена + каше + фотозона + press-wall + стойка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регистрации.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700" y="4772025"/>
            <a:ext cx="2333625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75">
                <a:solidFill>
                  <a:srgbClr val="D8FF3E"/>
                </a:solidFill>
                <a:latin typeface="Unbounded ExtraBold"/>
              </a:rPr>
              <a:t>от 89 000 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7700" y="5124450"/>
            <a:ext cx="3276600" cy="2809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b="0" sz="937">
                <a:solidFill>
                  <a:srgbClr val="98989F"/>
                </a:solidFill>
                <a:latin typeface="Manrope SemiBold"/>
              </a:rPr>
              <a:t>производство и монтаж за 24 часа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905000"/>
            <a:ext cx="3581400" cy="3733800"/>
          </a:xfrm>
          <a:prstGeom prst="roundRect">
            <a:avLst>
              <a:gd name="adj" fmla="val 4787"/>
            </a:avLst>
          </a:prstGeom>
          <a:solidFill>
            <a:srgbClr val="14141C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ptx_705879429655367782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905000"/>
            <a:ext cx="3581400" cy="1409700"/>
          </a:xfrm>
          <a:prstGeom prst="roundRect">
            <a:avLst>
              <a:gd name="adj" fmla="val 12162"/>
            </a:avLst>
          </a:prstGeom>
        </p:spPr>
      </p:pic>
      <p:sp>
        <p:nvSpPr>
          <p:cNvPr id="26" name="Rectangle 25"/>
          <p:cNvSpPr/>
          <p:nvPr/>
        </p:nvSpPr>
        <p:spPr>
          <a:xfrm>
            <a:off x="8001000" y="2971800"/>
            <a:ext cx="3581400" cy="342900"/>
          </a:xfrm>
          <a:prstGeom prst="rect">
            <a:avLst/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91500" y="3448050"/>
            <a:ext cx="781050" cy="285750"/>
          </a:xfrm>
          <a:prstGeom prst="roundRect">
            <a:avLst>
              <a:gd name="adj" fmla="val 50000"/>
            </a:avLst>
          </a:prstGeom>
          <a:solidFill>
            <a:srgbClr val="14141C"/>
          </a:solidFill>
          <a:ln w="12700">
            <a:solidFill>
              <a:srgbClr val="FF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1500" y="3448050"/>
            <a:ext cx="781050" cy="285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F4D1C"/>
                </a:solidFill>
                <a:latin typeface="Manrope"/>
              </a:rPr>
              <a:t>Пакет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0" y="3886200"/>
            <a:ext cx="3276600" cy="4095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b="0" sz="1350">
                <a:solidFill>
                  <a:srgbClr val="F4F2EC"/>
                </a:solidFill>
                <a:latin typeface="Unbounded ExtraBold"/>
              </a:rPr>
              <a:t>Фасад и навигация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4267200"/>
            <a:ext cx="3276600" cy="4905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Световые вывески и буквы + баннеры на фасад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b="0" sz="1012">
                <a:solidFill>
                  <a:srgbClr val="98989F"/>
                </a:solidFill>
                <a:latin typeface="Manrope SemiBold"/>
              </a:rPr>
              <a:t>+ флаги + входная группа.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0" y="4772025"/>
            <a:ext cx="211455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75">
                <a:solidFill>
                  <a:srgbClr val="D8FF3E"/>
                </a:solidFill>
                <a:latin typeface="Unbounded ExtraBold"/>
              </a:rPr>
              <a:t>по замеру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1500" y="5124450"/>
            <a:ext cx="3276600" cy="2809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b="0" sz="937">
                <a:solidFill>
                  <a:srgbClr val="98989F"/>
                </a:solidFill>
                <a:latin typeface="Manrope SemiBold"/>
              </a:rPr>
              <a:t>логотип от 19 500 ₽/м · от 3 дней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5924550"/>
            <a:ext cx="11906250" cy="198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75">
                <a:solidFill>
                  <a:srgbClr val="98989F"/>
                </a:solidFill>
                <a:latin typeface="Manrope SemiBold"/>
              </a:rPr>
              <a:t>Цены указаны «от» и зависят от материалов, размеров и сложности дизайна. Точная стоимость фиксируется в коммерческом предложении после замера и не меняется по ходу работ.</a:t>
            </a:r>
          </a:p>
        </p:txBody>
      </p:sp>
      <p:pic>
        <p:nvPicPr>
          <p:cNvPr id="34" name="Picture 33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524625"/>
            <a:ext cx="311612" cy="1809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8200" y="6581775"/>
            <a:ext cx="3190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937">
                <a:solidFill>
                  <a:srgbClr val="707078"/>
                </a:solidFill>
                <a:latin typeface="Manrope SemiBold"/>
              </a:rPr>
              <a:t>SM-PRODUCTION · БРЕНДИНГ ДЛЯ АВТОСАЛОНОВ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6650" y="6581775"/>
            <a:ext cx="3619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0" sz="937">
                <a:solidFill>
                  <a:srgbClr val="FF4D1C"/>
                </a:solidFill>
                <a:latin typeface="Manrope Extra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ptx_18741782440778857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0" y="0"/>
            <a:ext cx="12763500" cy="6858000"/>
          </a:xfrm>
          <a:prstGeom prst="rect">
            <a:avLst/>
          </a:prstGeom>
        </p:spPr>
      </p:pic>
      <p:pic>
        <p:nvPicPr>
          <p:cNvPr id="3" name="Picture 2" descr="logo-smprod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57200"/>
            <a:ext cx="988650" cy="7429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3400" y="2409825"/>
            <a:ext cx="323850" cy="30480"/>
          </a:xfrm>
          <a:prstGeom prst="rect">
            <a:avLst/>
          </a:prstGeom>
          <a:solidFill>
            <a:srgbClr val="FF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2257425"/>
            <a:ext cx="162877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125">
                <a:solidFill>
                  <a:srgbClr val="D8FF3E"/>
                </a:solidFill>
                <a:latin typeface="Manrope"/>
              </a:rPr>
              <a:t>СЛЕДУЮЩИЙ ШАГ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575941"/>
            <a:ext cx="9705975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4050">
                <a:solidFill>
                  <a:srgbClr val="F4F2EC"/>
                </a:solidFill>
                <a:latin typeface="Unbounded ExtraBold"/>
              </a:rPr>
              <a:t>Оперативно решим вашу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152013"/>
            <a:ext cx="3686175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4050">
                <a:solidFill>
                  <a:srgbClr val="F4F2EC"/>
                </a:solidFill>
                <a:latin typeface="Unbounded ExtraBold"/>
              </a:rPr>
              <a:t>задачу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0875" y="3152013"/>
            <a:ext cx="565785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4050">
                <a:solidFill>
                  <a:srgbClr val="FF4D1C"/>
                </a:solidFill>
                <a:latin typeface="Unbounded ExtraBold"/>
              </a:rPr>
              <a:t>по брендингу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943350"/>
            <a:ext cx="67437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0" sz="1500">
                <a:solidFill>
                  <a:srgbClr val="D9D6CD"/>
                </a:solidFill>
                <a:latin typeface="Manrope"/>
              </a:rPr>
              <a:t>Напишите или позвоните — в течение дня подготовим коммерческое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0" sz="1500">
                <a:solidFill>
                  <a:srgbClr val="D9D6CD"/>
                </a:solidFill>
                <a:latin typeface="Manrope"/>
              </a:rPr>
              <a:t>предложение с ценами и сроками. Замер в пределах МКАД — бесплатно.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4762500"/>
            <a:ext cx="3038475" cy="876300"/>
          </a:xfrm>
          <a:prstGeom prst="roundRect">
            <a:avLst>
              <a:gd name="adj" fmla="val 19565"/>
            </a:avLst>
          </a:prstGeom>
          <a:solidFill>
            <a:srgbClr val="14141C"/>
          </a:solidFill>
          <a:ln w="19050">
            <a:solidFill>
              <a:srgbClr val="FF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4962525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900">
                <a:solidFill>
                  <a:srgbClr val="98989F"/>
                </a:solidFill>
                <a:latin typeface="Manrope"/>
              </a:rPr>
              <a:t>ТЕЛЕФОН · 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5219700"/>
            <a:ext cx="296227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D8FF3E"/>
                </a:solidFill>
                <a:latin typeface="Unbounded ExtraBold"/>
              </a:rPr>
              <a:t>+7 495 799-00-19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5225" y="4762500"/>
            <a:ext cx="3467100" cy="876300"/>
          </a:xfrm>
          <a:prstGeom prst="roundRect">
            <a:avLst>
              <a:gd name="adj" fmla="val 19565"/>
            </a:avLst>
          </a:prstGeom>
          <a:solidFill>
            <a:srgbClr val="14141C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1925" y="4962525"/>
            <a:ext cx="657225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900">
                <a:solidFill>
                  <a:srgbClr val="98989F"/>
                </a:solidFill>
                <a:latin typeface="Manrope"/>
              </a:rPr>
              <a:t>ПОЧТА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1925" y="5219700"/>
            <a:ext cx="33909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F4F2EC"/>
                </a:solidFill>
                <a:latin typeface="Unbounded ExtraBold"/>
              </a:rPr>
              <a:t>sm-pro1@yandex.ru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5675" y="4762500"/>
            <a:ext cx="3162300" cy="876300"/>
          </a:xfrm>
          <a:prstGeom prst="roundRect">
            <a:avLst>
              <a:gd name="adj" fmla="val 19565"/>
            </a:avLst>
          </a:prstGeom>
          <a:solidFill>
            <a:srgbClr val="14141C"/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2375" y="4962525"/>
            <a:ext cx="581025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900">
                <a:solidFill>
                  <a:srgbClr val="98989F"/>
                </a:solidFill>
                <a:latin typeface="Manrope"/>
              </a:rPr>
              <a:t>САЙТ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2375" y="5219700"/>
            <a:ext cx="30861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800">
                <a:solidFill>
                  <a:srgbClr val="F4F2EC"/>
                </a:solidFill>
                <a:latin typeface="Unbounded ExtraBold"/>
              </a:rPr>
              <a:t>sm-production.ru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400" y="5981700"/>
            <a:ext cx="1457325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400" y="5981700"/>
            <a:ext cx="145732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КП в течение дня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5025" y="5981700"/>
            <a:ext cx="2247900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5025" y="5981700"/>
            <a:ext cx="22479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24/7 производство и монтаж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67225" y="5981700"/>
            <a:ext cx="2047875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7225" y="5981700"/>
            <a:ext cx="2047875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Заявки ПН–ПТ 10:00–18:00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5981700"/>
            <a:ext cx="2286000" cy="342900"/>
          </a:xfrm>
          <a:prstGeom prst="roundRect">
            <a:avLst>
              <a:gd name="adj" fmla="val 50000"/>
            </a:avLst>
          </a:prstGeom>
          <a:solidFill>
            <a:srgbClr val="14141C">
              <a:alpha val="85000"/>
            </a:srgbClr>
          </a:solidFill>
          <a:ln w="12700">
            <a:solidFill>
              <a:srgbClr val="3A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5981700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b="1" sz="975">
                <a:solidFill>
                  <a:srgbClr val="F4F2EC"/>
                </a:solidFill>
                <a:latin typeface="Manrope"/>
              </a:rPr>
              <a:t>Москва · Остаповский проезд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SM-Production — Брендинг для автосалонов</dc:title>
  <dc:subject>Презентация для дилерских центров</dc:subject>
  <dc:creator>SM-Production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